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595d52-9839-94ab-b1c4-7221cd15fcfa}">
          <p14:sldIdLst>
            <p14:sldId id="256"/>
            <p14:sldId id="257"/>
          </p14:sldIdLst>
        </p14:section>
        <p14:section name="Conception" id="{bf52d161-ed1c-beea-026a-9af98e9843cd}">
          <p14:sldIdLst>
            <p14:sldId id="258"/>
            <p14:sldId id="259"/>
          </p14:sldIdLst>
        </p14:section>
        <p14:section name="Réalisation" id="{ea02dc4f-4718-0a71-8e73-91508fc6a062}">
          <p14:sldIdLst>
            <p14:sldId id="260"/>
            <p14:sldId id="261"/>
            <p14:sldId id="262"/>
            <p14:sldId id="263"/>
          </p14:sldIdLst>
        </p14:section>
        <p14:section name="Exploitation" id="{925787cb-49fd-d040-bf1f-dde8347cec70}">
          <p14:sldIdLst>
            <p14:sldId id="264"/>
            <p14:sldId id="265"/>
            <p14:sldId id="266"/>
          </p14:sldIdLst>
        </p14:section>
        <p14:section name="Conclusion" id="{f8671401-e101-c7a7-a6ce-5512ea2df7e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49"/>
                </a:solidFill>
                <a:latin typeface="+mn-lt"/>
              </a:defRPr>
            </a:pPr>
            <a:r>
              <a:rPr sz="1300" b="0" i="0" u="none" strike="noStrike">
                <a:solidFill>
                  <a:srgbClr val="0B3C49"/>
                </a:solidFill>
                <a:latin typeface="+mn-lt"/>
              </a:rPr>
              <a:t>23 cas de test SOAP par domaine</a:t>
            </a:r>
          </a:p>
        </c:rich>
      </c:tx>
      <c:layout/>
      <c:overlay val="0"/>
    </c:title>
    <c:autoTitleDeleted val="0"/>
    <c:plotArea>
      <c:layout/>
      <c:barChart>
        <c:barDir val="bar"/>
        <c:grouping val="clustered"/>
        <c:varyColors val="0"/>
        <c:ser>
          <c:idx val="0"/>
          <c:order val="0"/>
          <c:tx>
            <c:strRef>
              <c:f>Sheet1!$B$1</c:f>
              <c:strCache>
                <c:ptCount val="1"/>
                <c:pt idx="0">
                  <c:v>Nombre de cas</c:v>
                </c:pt>
              </c:strCache>
            </c:strRef>
          </c:tx>
          <c:spPr>
            <a:solidFill>
              <a:srgbClr val="0F766E"/>
            </a:solidFill>
            <a:effectLst/>
          </c:spPr>
          <c:invertIfNegative val="0"/>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cat>
            <c:strRef>
              <c:f>Sheet1!$A$2:$A$7</c:f>
              <c:strCache>
                <c:ptCount val="6"/>
                <c:pt idx="0">
                  <c:v>WSDL</c:v>
                </c:pt>
                <c:pt idx="1">
                  <c:v>getClientDetails</c:v>
                </c:pt>
                <c:pt idx="2">
                  <c:v>searchClients</c:v>
                </c:pt>
                <c:pt idx="3">
                  <c:v>updateClient</c:v>
                </c:pt>
                <c:pt idx="4">
                  <c:v>Enveloppe</c:v>
                </c:pt>
                <c:pt idx="5">
                  <c:v>Panne base</c:v>
                </c:pt>
              </c:strCache>
            </c:strRef>
          </c:cat>
          <c:val>
            <c:numRef>
              <c:f>Sheet1!$B$2:$B$7</c:f>
              <c:numCache>
                <c:formatCode>General</c:formatCode>
                <c:ptCount val="6"/>
                <c:pt idx="0">
                  <c:v>1</c:v>
                </c:pt>
                <c:pt idx="1">
                  <c:v>3</c:v>
                </c:pt>
                <c:pt idx="2">
                  <c:v>7</c:v>
                </c:pt>
                <c:pt idx="3">
                  <c:v>8</c:v>
                </c:pt>
                <c:pt idx="4">
                  <c:v>2</c:v>
                </c:pt>
                <c:pt idx="5">
                  <c:v>2</c:v>
                </c:pt>
              </c:numCache>
            </c:numRef>
          </c:val>
        </c:ser>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7262E"/>
                </a:solidFill>
                <a:latin typeface="+mn-lt"/>
              </a:defRPr>
            </a:pPr>
            <a:endParaRPr lang="en-US"/>
          </a:p>
        </c:txPr>
        <c:crossAx val="2094734552"/>
        <c:crosses val="autoZero"/>
        <c:auto val="1"/>
        <c:lblAlgn val="ctr"/>
        <c:noMultiLvlLbl val="1"/>
      </c:catAx>
      <c:valAx>
        <c:axId val="2094734552"/>
        <c:scaling>
          <c:orientation val="minMax"/>
          <c:max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thème 7 : un service SOAP de gestion de clients dont MongoDB est la base de référence, alimenté par Airflow depuis MySQL et supervisé par Zabbix. Durée visée : 10 minutes +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7 points de l'exercice 7 plus les livrables communs du projet (dépôt public, installation reproductible, test de bout en bout, présentation).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 principal de gauche à droite. Deux DAG : le DAG 1 charge MongoDB, le DAG 2 renvoie vers MySQL les modifications faites par SOAP. Le service Laravel ne parle qu'à MongoDB. Zabbix interroge deux endpoints HTTP du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est généré par un script déterministe (graine fixe). Sept lignes sont volontairement invalides pour montrer le contrôle qualité d'Airflow. Les rejets ne bloquent pas le chargement, ils sont archivés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DAG 1 est planifié toutes les heures, sans rattrapage. L'idempotence est testée : un deuxième passage ne modifie rien, pas même les numéros de version. Un client modifié par SOAP n'est jamais écrasé par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validateur JSON Schema empêche d'écrire un document invalide même en dehors du service. Les deux index uniques garantissent l'unicité du code client et de l'e-mail.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opérations, un contrat WSDL unique. Le service est une classe PHP (ext-soap) derrière une route Laravel sans session ni CSRF. Une modification est atomique : findOneAndUpdate filtré sur le code et la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Fault porte un code stable, un message et le champ fautif. La différence entre faute Client (à corriger par l'appelant) et faute Server (à réessayer) est exploitée par Zabbix : seules les fautes serveur déclenchent une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SOAP n'écrit jamais dans MySQL : pas de double écriture ni de transaction distribuée. La fenêtre d'incohérence va jusqu'à une heure ; le DAG 2 peut être déclenché à la demande. Limite assumée : pas de création ni de suppression dans ce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endpoints /health et /monitoring/stats sont lus par l'agent HTTP du serveur Zabbix. Démonstration possible : docker compose stop mongo fait apparaître l'alerte MongoDB indisponible en moins d'une minute. Le template n'a pas encore été importé sur un serveur Zabbix réel : à valider au premier 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tests couvrent le WSDL, les trois opérations, tous les codes de Fault métier, une enveloppe invalide et la panne puis la reprise de la base. Ils ont été exécutés sur un serveur PHP 8.3 avec un dépôt en mémoire et un vrai client SOAP PHP ; la même suite tourne contre Docker avec l'option --db-down docker. Soyons transparents : l'image Docker, MongoDB réel et Zabbix n'ont pas encore été exécutés.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proposée, à remplacer par les vrais noms et rôles du groupe avant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 la chaîne complète est fonctionnelle et documentée. Perspectives : authentification WS-Security ou passerelle d'API, Change Streams MongoDB pour une réconciliation quasi temps réel, notifications Zabbix.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Service SOAP de clients</a:t>
            </a:r>
            <a:endParaRPr lang="en-US" sz="4000" dirty="0"/>
          </a:p>
        </p:txBody>
      </p:sp>
      <p:sp>
        <p:nvSpPr>
          <p:cNvPr id="3" name="Text 1"/>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Laravel · Airflow · MongoDB · Zabbix</a:t>
            </a:r>
            <a:endParaRPr lang="en-US" sz="2200" dirty="0"/>
          </a:p>
        </p:txBody>
      </p:sp>
      <p:sp>
        <p:nvSpPr>
          <p:cNvPr id="4" name="Text 2"/>
          <p:cNvSpPr txBox="1"/>
          <p:nvPr/>
        </p:nvSpPr>
        <p:spPr>
          <a:xfrm>
            <a:off x="548640" y="3200400"/>
            <a:ext cx="8046720" cy="73152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Projet Développement à base de composants et services web</a:t>
            </a:r>
            <a:endParaRPr lang="en-US" sz="1600" dirty="0"/>
          </a:p>
          <a:p>
            <a:pPr indent="0" marL="0">
              <a:buNone/>
            </a:pPr>
            <a:r>
              <a:rPr lang="en-US" sz="1600" dirty="0">
                <a:solidFill>
                  <a:schemeClr val="bg2"/>
                </a:solidFill>
                <a:latin typeface="Calibri" pitchFamily="34" charset="0"/>
                <a:ea typeface="Calibri" pitchFamily="34" charset="-122"/>
                <a:cs typeface="Calibri" pitchFamily="34" charset="-120"/>
              </a:rPr>
              <a:t>Groupe 5 SI · Thème n° 7 · IBAM · Octobre 2026</a:t>
            </a:r>
            <a:endParaRPr lang="en-US" sz="1600" dirty="0"/>
          </a:p>
        </p:txBody>
      </p:sp>
      <p:sp>
        <p:nvSpPr>
          <p:cNvPr id="5" name="logo-serveur-cercle"/>
          <p:cNvSpPr/>
          <p:nvPr/>
        </p:nvSpPr>
        <p:spPr>
          <a:xfrm>
            <a:off x="548640" y="502920"/>
            <a:ext cx="548640" cy="548640"/>
          </a:xfrm>
          <a:prstGeom prst="ellipse">
            <a:avLst/>
          </a:prstGeom>
          <a:solidFill>
            <a:srgbClr val="0F766E"/>
          </a:solidFill>
          <a:ln w="12700">
            <a:solidFill>
              <a:srgbClr val="0F766E"/>
            </a:solidFill>
            <a:prstDash val="solid"/>
          </a:ln>
        </p:spPr>
      </p:sp>
      <p:pic>
        <p:nvPicPr>
          <p:cNvPr id="6" name="logo-serveur" descr="logo-serveur">    </p:cNvPr>
          <p:cNvPicPr>
            <a:picLocks noChangeAspect="1"/>
          </p:cNvPicPr>
          <p:nvPr/>
        </p:nvPicPr>
        <p:blipFill>
          <a:blip r:embed="rId1"/>
          <a:stretch>
            <a:fillRect/>
          </a:stretch>
        </p:blipFill>
        <p:spPr>
          <a:xfrm>
            <a:off x="685800" y="640080"/>
            <a:ext cx="274320" cy="274320"/>
          </a:xfrm>
          <a:prstGeom prst="rect">
            <a:avLst/>
          </a:prstGeom>
        </p:spPr>
      </p:pic>
      <p:sp>
        <p:nvSpPr>
          <p:cNvPr id="7" name="logo-base-cercle"/>
          <p:cNvSpPr/>
          <p:nvPr/>
        </p:nvSpPr>
        <p:spPr>
          <a:xfrm>
            <a:off x="1188720" y="502920"/>
            <a:ext cx="548640" cy="548640"/>
          </a:xfrm>
          <a:prstGeom prst="ellipse">
            <a:avLst/>
          </a:prstGeom>
          <a:solidFill>
            <a:srgbClr val="F2A900"/>
          </a:solidFill>
          <a:ln w="12700">
            <a:solidFill>
              <a:srgbClr val="F2A900"/>
            </a:solidFill>
            <a:prstDash val="solid"/>
          </a:ln>
        </p:spPr>
      </p:sp>
      <p:pic>
        <p:nvPicPr>
          <p:cNvPr id="8" name="logo-base" descr="logo-base">    </p:cNvPr>
          <p:cNvPicPr>
            <a:picLocks noChangeAspect="1"/>
          </p:cNvPicPr>
          <p:nvPr/>
        </p:nvPicPr>
        <p:blipFill>
          <a:blip r:embed="rId2"/>
          <a:stretch>
            <a:fillRect/>
          </a:stretch>
        </p:blipFill>
        <p:spPr>
          <a:xfrm>
            <a:off x="1325880" y="640080"/>
            <a:ext cx="274320"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Ce que le sujet demande</a:t>
            </a:r>
            <a:endParaRPr lang="en-US" sz="3000" dirty="0"/>
          </a:p>
        </p:txBody>
      </p:sp>
      <p:sp>
        <p:nvSpPr>
          <p:cNvPr id="3" name="carte-exigence-1"/>
          <p:cNvSpPr/>
          <p:nvPr/>
        </p:nvSpPr>
        <p:spPr>
          <a:xfrm>
            <a:off x="457200" y="1234440"/>
            <a:ext cx="4023360" cy="685800"/>
          </a:xfrm>
          <a:prstGeom prst="roundRect">
            <a:avLst>
              <a:gd name="adj" fmla="val 10667"/>
            </a:avLst>
          </a:prstGeom>
          <a:solidFill>
            <a:schemeClr val="bg2"/>
          </a:solidFill>
          <a:ln w="12700">
            <a:solidFill>
              <a:schemeClr val="bg2"/>
            </a:solidFill>
            <a:prstDash val="solid"/>
          </a:ln>
        </p:spPr>
      </p:sp>
      <p:sp>
        <p:nvSpPr>
          <p:cNvPr id="4" name="icone-exigence-1-cercle"/>
          <p:cNvSpPr/>
          <p:nvPr/>
        </p:nvSpPr>
        <p:spPr>
          <a:xfrm>
            <a:off x="594360" y="1348740"/>
            <a:ext cx="457200" cy="457200"/>
          </a:xfrm>
          <a:prstGeom prst="ellipse">
            <a:avLst/>
          </a:prstGeom>
          <a:solidFill>
            <a:srgbClr val="0F766E"/>
          </a:solidFill>
          <a:ln w="12700">
            <a:solidFill>
              <a:srgbClr val="0F766E"/>
            </a:solidFill>
            <a:prstDash val="solid"/>
          </a:ln>
        </p:spPr>
      </p:sp>
      <p:pic>
        <p:nvPicPr>
          <p:cNvPr id="5" name="icone-exigence-1" descr="icone-exigence-1">    </p:cNvPr>
          <p:cNvPicPr>
            <a:picLocks noChangeAspect="1"/>
          </p:cNvPicPr>
          <p:nvPr/>
        </p:nvPicPr>
        <p:blipFill>
          <a:blip r:embed="rId1"/>
          <a:stretch>
            <a:fillRect/>
          </a:stretch>
        </p:blipFill>
        <p:spPr>
          <a:xfrm>
            <a:off x="708660" y="1463040"/>
            <a:ext cx="228600" cy="228600"/>
          </a:xfrm>
          <a:prstGeom prst="rect">
            <a:avLst/>
          </a:prstGeom>
        </p:spPr>
      </p:pic>
      <p:sp>
        <p:nvSpPr>
          <p:cNvPr id="6" name="texte-exigence-1"/>
          <p:cNvSpPr txBox="1"/>
          <p:nvPr/>
        </p:nvSpPr>
        <p:spPr>
          <a:xfrm>
            <a:off x="118872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Clients fictifs dans MySQL</a:t>
            </a:r>
            <a:endParaRPr lang="en-US" sz="1400" dirty="0"/>
          </a:p>
        </p:txBody>
      </p:sp>
      <p:sp>
        <p:nvSpPr>
          <p:cNvPr id="7" name="carte-exigence-2"/>
          <p:cNvSpPr/>
          <p:nvPr/>
        </p:nvSpPr>
        <p:spPr>
          <a:xfrm>
            <a:off x="4663440" y="1234440"/>
            <a:ext cx="4023360" cy="685800"/>
          </a:xfrm>
          <a:prstGeom prst="roundRect">
            <a:avLst>
              <a:gd name="adj" fmla="val 10667"/>
            </a:avLst>
          </a:prstGeom>
          <a:solidFill>
            <a:schemeClr val="bg2"/>
          </a:solidFill>
          <a:ln w="12700">
            <a:solidFill>
              <a:schemeClr val="bg2"/>
            </a:solidFill>
            <a:prstDash val="solid"/>
          </a:ln>
        </p:spPr>
      </p:sp>
      <p:sp>
        <p:nvSpPr>
          <p:cNvPr id="8" name="icone-exigence-2-cercle"/>
          <p:cNvSpPr/>
          <p:nvPr/>
        </p:nvSpPr>
        <p:spPr>
          <a:xfrm>
            <a:off x="4800600" y="1348740"/>
            <a:ext cx="457200" cy="457200"/>
          </a:xfrm>
          <a:prstGeom prst="ellipse">
            <a:avLst/>
          </a:prstGeom>
          <a:solidFill>
            <a:srgbClr val="2563EB"/>
          </a:solidFill>
          <a:ln w="12700">
            <a:solidFill>
              <a:srgbClr val="2563EB"/>
            </a:solidFill>
            <a:prstDash val="solid"/>
          </a:ln>
        </p:spPr>
      </p:sp>
      <p:pic>
        <p:nvPicPr>
          <p:cNvPr id="9" name="icone-exigence-2" descr="icone-exigence-2">    </p:cNvPr>
          <p:cNvPicPr>
            <a:picLocks noChangeAspect="1"/>
          </p:cNvPicPr>
          <p:nvPr/>
        </p:nvPicPr>
        <p:blipFill>
          <a:blip r:embed="rId2"/>
          <a:stretch>
            <a:fillRect/>
          </a:stretch>
        </p:blipFill>
        <p:spPr>
          <a:xfrm>
            <a:off x="4914900" y="1463040"/>
            <a:ext cx="228600" cy="228600"/>
          </a:xfrm>
          <a:prstGeom prst="rect">
            <a:avLst/>
          </a:prstGeom>
        </p:spPr>
      </p:pic>
      <p:sp>
        <p:nvSpPr>
          <p:cNvPr id="10" name="texte-exigence-2"/>
          <p:cNvSpPr txBox="1"/>
          <p:nvPr/>
        </p:nvSpPr>
        <p:spPr>
          <a:xfrm>
            <a:off x="539496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Airflow : MySQL → MongoDB</a:t>
            </a:r>
            <a:endParaRPr lang="en-US" sz="1400" dirty="0"/>
          </a:p>
        </p:txBody>
      </p:sp>
      <p:sp>
        <p:nvSpPr>
          <p:cNvPr id="11" name="carte-exigence-3"/>
          <p:cNvSpPr/>
          <p:nvPr/>
        </p:nvSpPr>
        <p:spPr>
          <a:xfrm>
            <a:off x="457200" y="2075688"/>
            <a:ext cx="4023360" cy="685800"/>
          </a:xfrm>
          <a:prstGeom prst="roundRect">
            <a:avLst>
              <a:gd name="adj" fmla="val 10667"/>
            </a:avLst>
          </a:prstGeom>
          <a:solidFill>
            <a:schemeClr val="bg2"/>
          </a:solidFill>
          <a:ln w="12700">
            <a:solidFill>
              <a:schemeClr val="bg2"/>
            </a:solidFill>
            <a:prstDash val="solid"/>
          </a:ln>
        </p:spPr>
      </p:sp>
      <p:sp>
        <p:nvSpPr>
          <p:cNvPr id="12" name="icone-exigence-3-cercle"/>
          <p:cNvSpPr/>
          <p:nvPr/>
        </p:nvSpPr>
        <p:spPr>
          <a:xfrm>
            <a:off x="594360" y="2189988"/>
            <a:ext cx="457200" cy="457200"/>
          </a:xfrm>
          <a:prstGeom prst="ellipse">
            <a:avLst/>
          </a:prstGeom>
          <a:solidFill>
            <a:srgbClr val="0F766E"/>
          </a:solidFill>
          <a:ln w="12700">
            <a:solidFill>
              <a:srgbClr val="0F766E"/>
            </a:solidFill>
            <a:prstDash val="solid"/>
          </a:ln>
        </p:spPr>
      </p:sp>
      <p:pic>
        <p:nvPicPr>
          <p:cNvPr id="13" name="icone-exigence-3" descr="icone-exigence-3">    </p:cNvPr>
          <p:cNvPicPr>
            <a:picLocks noChangeAspect="1"/>
          </p:cNvPicPr>
          <p:nvPr/>
        </p:nvPicPr>
        <p:blipFill>
          <a:blip r:embed="rId3"/>
          <a:stretch>
            <a:fillRect/>
          </a:stretch>
        </p:blipFill>
        <p:spPr>
          <a:xfrm>
            <a:off x="708660" y="2304288"/>
            <a:ext cx="228600" cy="228600"/>
          </a:xfrm>
          <a:prstGeom prst="rect">
            <a:avLst/>
          </a:prstGeom>
        </p:spPr>
      </p:pic>
      <p:sp>
        <p:nvSpPr>
          <p:cNvPr id="14" name="texte-exigence-3"/>
          <p:cNvSpPr txBox="1"/>
          <p:nvPr/>
        </p:nvSpPr>
        <p:spPr>
          <a:xfrm>
            <a:off x="118872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Service SOAP Laravel (3 opérations)</a:t>
            </a:r>
            <a:endParaRPr lang="en-US" sz="1400" dirty="0"/>
          </a:p>
        </p:txBody>
      </p:sp>
      <p:sp>
        <p:nvSpPr>
          <p:cNvPr id="15" name="carte-exigence-4"/>
          <p:cNvSpPr/>
          <p:nvPr/>
        </p:nvSpPr>
        <p:spPr>
          <a:xfrm>
            <a:off x="4663440" y="2075688"/>
            <a:ext cx="4023360" cy="685800"/>
          </a:xfrm>
          <a:prstGeom prst="roundRect">
            <a:avLst>
              <a:gd name="adj" fmla="val 10667"/>
            </a:avLst>
          </a:prstGeom>
          <a:solidFill>
            <a:schemeClr val="bg2"/>
          </a:solidFill>
          <a:ln w="12700">
            <a:solidFill>
              <a:schemeClr val="bg2"/>
            </a:solidFill>
            <a:prstDash val="solid"/>
          </a:ln>
        </p:spPr>
      </p:sp>
      <p:sp>
        <p:nvSpPr>
          <p:cNvPr id="16" name="icone-exigence-4-cercle"/>
          <p:cNvSpPr/>
          <p:nvPr/>
        </p:nvSpPr>
        <p:spPr>
          <a:xfrm>
            <a:off x="4800600" y="2189988"/>
            <a:ext cx="457200" cy="457200"/>
          </a:xfrm>
          <a:prstGeom prst="ellipse">
            <a:avLst/>
          </a:prstGeom>
          <a:solidFill>
            <a:srgbClr val="2563EB"/>
          </a:solidFill>
          <a:ln w="12700">
            <a:solidFill>
              <a:srgbClr val="2563EB"/>
            </a:solidFill>
            <a:prstDash val="solid"/>
          </a:ln>
        </p:spPr>
      </p:sp>
      <p:pic>
        <p:nvPicPr>
          <p:cNvPr id="17" name="icone-exigence-4" descr="icone-exigence-4">    </p:cNvPr>
          <p:cNvPicPr>
            <a:picLocks noChangeAspect="1"/>
          </p:cNvPicPr>
          <p:nvPr/>
        </p:nvPicPr>
        <p:blipFill>
          <a:blip r:embed="rId4"/>
          <a:stretch>
            <a:fillRect/>
          </a:stretch>
        </p:blipFill>
        <p:spPr>
          <a:xfrm>
            <a:off x="4914900" y="2304288"/>
            <a:ext cx="228600" cy="228600"/>
          </a:xfrm>
          <a:prstGeom prst="rect">
            <a:avLst/>
          </a:prstGeom>
        </p:spPr>
      </p:pic>
      <p:sp>
        <p:nvSpPr>
          <p:cNvPr id="18" name="texte-exigence-4"/>
          <p:cNvSpPr txBox="1"/>
          <p:nvPr/>
        </p:nvSpPr>
        <p:spPr>
          <a:xfrm>
            <a:off x="539496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Documenter paramètres, réponses, Fault</a:t>
            </a:r>
            <a:endParaRPr lang="en-US" sz="1400" dirty="0"/>
          </a:p>
        </p:txBody>
      </p:sp>
      <p:sp>
        <p:nvSpPr>
          <p:cNvPr id="19" name="carte-exigence-5"/>
          <p:cNvSpPr/>
          <p:nvPr/>
        </p:nvSpPr>
        <p:spPr>
          <a:xfrm>
            <a:off x="457200" y="2916936"/>
            <a:ext cx="4023360" cy="685800"/>
          </a:xfrm>
          <a:prstGeom prst="roundRect">
            <a:avLst>
              <a:gd name="adj" fmla="val 10667"/>
            </a:avLst>
          </a:prstGeom>
          <a:solidFill>
            <a:schemeClr val="bg2"/>
          </a:solidFill>
          <a:ln w="12700">
            <a:solidFill>
              <a:schemeClr val="bg2"/>
            </a:solidFill>
            <a:prstDash val="solid"/>
          </a:ln>
        </p:spPr>
      </p:sp>
      <p:sp>
        <p:nvSpPr>
          <p:cNvPr id="20" name="icone-exigence-5-cercle"/>
          <p:cNvSpPr/>
          <p:nvPr/>
        </p:nvSpPr>
        <p:spPr>
          <a:xfrm>
            <a:off x="594360" y="3031236"/>
            <a:ext cx="457200" cy="457200"/>
          </a:xfrm>
          <a:prstGeom prst="ellipse">
            <a:avLst/>
          </a:prstGeom>
          <a:solidFill>
            <a:srgbClr val="C2410C"/>
          </a:solidFill>
          <a:ln w="12700">
            <a:solidFill>
              <a:srgbClr val="C2410C"/>
            </a:solidFill>
            <a:prstDash val="solid"/>
          </a:ln>
        </p:spPr>
      </p:sp>
      <p:pic>
        <p:nvPicPr>
          <p:cNvPr id="21" name="icone-exigence-5" descr="icone-exigence-5">    </p:cNvPr>
          <p:cNvPicPr>
            <a:picLocks noChangeAspect="1"/>
          </p:cNvPicPr>
          <p:nvPr/>
        </p:nvPicPr>
        <p:blipFill>
          <a:blip r:embed="rId5"/>
          <a:stretch>
            <a:fillRect/>
          </a:stretch>
        </p:blipFill>
        <p:spPr>
          <a:xfrm>
            <a:off x="708660" y="3145536"/>
            <a:ext cx="228600" cy="228600"/>
          </a:xfrm>
          <a:prstGeom prst="rect">
            <a:avLst/>
          </a:prstGeom>
        </p:spPr>
      </p:pic>
      <p:sp>
        <p:nvSpPr>
          <p:cNvPr id="22" name="texte-exigence-5"/>
          <p:cNvSpPr txBox="1"/>
          <p:nvPr/>
        </p:nvSpPr>
        <p:spPr>
          <a:xfrm>
            <a:off x="118872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MongoDB = base de référence</a:t>
            </a:r>
            <a:endParaRPr lang="en-US" sz="1400" dirty="0"/>
          </a:p>
        </p:txBody>
      </p:sp>
      <p:sp>
        <p:nvSpPr>
          <p:cNvPr id="23" name="carte-exigence-6"/>
          <p:cNvSpPr/>
          <p:nvPr/>
        </p:nvSpPr>
        <p:spPr>
          <a:xfrm>
            <a:off x="4663440" y="2916936"/>
            <a:ext cx="4023360" cy="685800"/>
          </a:xfrm>
          <a:prstGeom prst="roundRect">
            <a:avLst>
              <a:gd name="adj" fmla="val 10667"/>
            </a:avLst>
          </a:prstGeom>
          <a:solidFill>
            <a:schemeClr val="bg2"/>
          </a:solidFill>
          <a:ln w="12700">
            <a:solidFill>
              <a:schemeClr val="bg2"/>
            </a:solidFill>
            <a:prstDash val="solid"/>
          </a:ln>
        </p:spPr>
      </p:sp>
      <p:sp>
        <p:nvSpPr>
          <p:cNvPr id="24" name="icone-exigence-6-cercle"/>
          <p:cNvSpPr/>
          <p:nvPr/>
        </p:nvSpPr>
        <p:spPr>
          <a:xfrm>
            <a:off x="4800600" y="3031236"/>
            <a:ext cx="457200" cy="457200"/>
          </a:xfrm>
          <a:prstGeom prst="ellipse">
            <a:avLst/>
          </a:prstGeom>
          <a:solidFill>
            <a:srgbClr val="0F766E"/>
          </a:solidFill>
          <a:ln w="12700">
            <a:solidFill>
              <a:srgbClr val="0F766E"/>
            </a:solidFill>
            <a:prstDash val="solid"/>
          </a:ln>
        </p:spPr>
      </p:sp>
      <p:pic>
        <p:nvPicPr>
          <p:cNvPr id="25" name="icone-exigence-6" descr="icone-exigence-6">    </p:cNvPr>
          <p:cNvPicPr>
            <a:picLocks noChangeAspect="1"/>
          </p:cNvPicPr>
          <p:nvPr/>
        </p:nvPicPr>
        <p:blipFill>
          <a:blip r:embed="rId6"/>
          <a:stretch>
            <a:fillRect/>
          </a:stretch>
        </p:blipFill>
        <p:spPr>
          <a:xfrm>
            <a:off x="4914900" y="3145536"/>
            <a:ext cx="228600" cy="228600"/>
          </a:xfrm>
          <a:prstGeom prst="rect">
            <a:avLst/>
          </a:prstGeom>
        </p:spPr>
      </p:pic>
      <p:sp>
        <p:nvSpPr>
          <p:cNvPr id="26" name="texte-exigence-6"/>
          <p:cNvSpPr txBox="1"/>
          <p:nvPr/>
        </p:nvSpPr>
        <p:spPr>
          <a:xfrm>
            <a:off x="539496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Zabbix + tests des opérations</a:t>
            </a:r>
            <a:endParaRPr lang="en-US" sz="1400" dirty="0"/>
          </a:p>
        </p:txBody>
      </p:sp>
      <p:sp>
        <p:nvSpPr>
          <p:cNvPr id="27" name="carte-exigence-7"/>
          <p:cNvSpPr/>
          <p:nvPr/>
        </p:nvSpPr>
        <p:spPr>
          <a:xfrm>
            <a:off x="457200" y="3758184"/>
            <a:ext cx="4023360" cy="685800"/>
          </a:xfrm>
          <a:prstGeom prst="roundRect">
            <a:avLst>
              <a:gd name="adj" fmla="val 10667"/>
            </a:avLst>
          </a:prstGeom>
          <a:solidFill>
            <a:schemeClr val="bg2"/>
          </a:solidFill>
          <a:ln w="12700">
            <a:solidFill>
              <a:schemeClr val="bg2"/>
            </a:solidFill>
            <a:prstDash val="solid"/>
          </a:ln>
        </p:spPr>
      </p:sp>
      <p:sp>
        <p:nvSpPr>
          <p:cNvPr id="28" name="icone-exigence-7-cercle"/>
          <p:cNvSpPr/>
          <p:nvPr/>
        </p:nvSpPr>
        <p:spPr>
          <a:xfrm>
            <a:off x="594360" y="3872484"/>
            <a:ext cx="457200" cy="457200"/>
          </a:xfrm>
          <a:prstGeom prst="ellipse">
            <a:avLst/>
          </a:prstGeom>
          <a:solidFill>
            <a:srgbClr val="2563EB"/>
          </a:solidFill>
          <a:ln w="12700">
            <a:solidFill>
              <a:srgbClr val="2563EB"/>
            </a:solidFill>
            <a:prstDash val="solid"/>
          </a:ln>
        </p:spPr>
      </p:sp>
      <p:pic>
        <p:nvPicPr>
          <p:cNvPr id="29" name="icone-exigence-7" descr="icone-exigence-7">    </p:cNvPr>
          <p:cNvPicPr>
            <a:picLocks noChangeAspect="1"/>
          </p:cNvPicPr>
          <p:nvPr/>
        </p:nvPicPr>
        <p:blipFill>
          <a:blip r:embed="rId7"/>
          <a:stretch>
            <a:fillRect/>
          </a:stretch>
        </p:blipFill>
        <p:spPr>
          <a:xfrm>
            <a:off x="708660" y="3986784"/>
            <a:ext cx="228600" cy="228600"/>
          </a:xfrm>
          <a:prstGeom prst="rect">
            <a:avLst/>
          </a:prstGeom>
        </p:spPr>
      </p:pic>
      <p:sp>
        <p:nvSpPr>
          <p:cNvPr id="30" name="texte-exigence-7"/>
          <p:cNvSpPr txBox="1"/>
          <p:nvPr/>
        </p:nvSpPr>
        <p:spPr>
          <a:xfrm>
            <a:off x="118872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Réconciliation vers MySQL documentée</a:t>
            </a:r>
            <a:endParaRPr lang="en-US" sz="1400" dirty="0"/>
          </a:p>
        </p:txBody>
      </p:sp>
      <p:sp>
        <p:nvSpPr>
          <p:cNvPr id="31" name="carte-exigence-8"/>
          <p:cNvSpPr/>
          <p:nvPr/>
        </p:nvSpPr>
        <p:spPr>
          <a:xfrm>
            <a:off x="4663440" y="3758184"/>
            <a:ext cx="4023360" cy="685800"/>
          </a:xfrm>
          <a:prstGeom prst="roundRect">
            <a:avLst>
              <a:gd name="adj" fmla="val 10667"/>
            </a:avLst>
          </a:prstGeom>
          <a:solidFill>
            <a:schemeClr val="bg2"/>
          </a:solidFill>
          <a:ln w="12700">
            <a:solidFill>
              <a:schemeClr val="bg2"/>
            </a:solidFill>
            <a:prstDash val="solid"/>
          </a:ln>
        </p:spPr>
      </p:sp>
      <p:sp>
        <p:nvSpPr>
          <p:cNvPr id="32" name="icone-exigence-8-cercle"/>
          <p:cNvSpPr/>
          <p:nvPr/>
        </p:nvSpPr>
        <p:spPr>
          <a:xfrm>
            <a:off x="4800600" y="3872484"/>
            <a:ext cx="457200" cy="457200"/>
          </a:xfrm>
          <a:prstGeom prst="ellipse">
            <a:avLst/>
          </a:prstGeom>
          <a:solidFill>
            <a:srgbClr val="C2410C"/>
          </a:solidFill>
          <a:ln w="12700">
            <a:solidFill>
              <a:srgbClr val="C2410C"/>
            </a:solidFill>
            <a:prstDash val="solid"/>
          </a:ln>
        </p:spPr>
      </p:sp>
      <p:pic>
        <p:nvPicPr>
          <p:cNvPr id="33" name="icone-exigence-8" descr="icone-exigence-8">    </p:cNvPr>
          <p:cNvPicPr>
            <a:picLocks noChangeAspect="1"/>
          </p:cNvPicPr>
          <p:nvPr/>
        </p:nvPicPr>
        <p:blipFill>
          <a:blip r:embed="rId8"/>
          <a:stretch>
            <a:fillRect/>
          </a:stretch>
        </p:blipFill>
        <p:spPr>
          <a:xfrm>
            <a:off x="4914900" y="3986784"/>
            <a:ext cx="228600" cy="228600"/>
          </a:xfrm>
          <a:prstGeom prst="rect">
            <a:avLst/>
          </a:prstGeom>
        </p:spPr>
      </p:pic>
      <p:sp>
        <p:nvSpPr>
          <p:cNvPr id="34" name="texte-exigence-8"/>
          <p:cNvSpPr txBox="1"/>
          <p:nvPr/>
        </p:nvSpPr>
        <p:spPr>
          <a:xfrm>
            <a:off x="539496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Dépôt Git, README, Docker, PowerPoint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Architecture</a:t>
            </a:r>
            <a:endParaRPr lang="en-US" sz="3000" dirty="0"/>
          </a:p>
        </p:txBody>
      </p:sp>
      <p:sp>
        <p:nvSpPr>
          <p:cNvPr id="3" name="boite-MySQL 8"/>
          <p:cNvSpPr/>
          <p:nvPr/>
        </p:nvSpPr>
        <p:spPr>
          <a:xfrm>
            <a:off x="457200" y="1325880"/>
            <a:ext cx="1371600" cy="1143000"/>
          </a:xfrm>
          <a:prstGeom prst="roundRect">
            <a:avLst>
              <a:gd name="adj" fmla="val 8000"/>
            </a:avLst>
          </a:prstGeom>
          <a:solidFill>
            <a:schemeClr val="accent5"/>
          </a:solidFill>
          <a:ln w="12700">
            <a:solidFill>
              <a:schemeClr val="accent5"/>
            </a:solidFill>
            <a:prstDash val="solid"/>
          </a:ln>
        </p:spPr>
      </p:sp>
      <p:sp>
        <p:nvSpPr>
          <p:cNvPr id="4" name="Text 2"/>
          <p:cNvSpPr txBox="1"/>
          <p:nvPr/>
        </p:nvSpPr>
        <p:spPr>
          <a:xfrm>
            <a:off x="502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MySQL 8</a:t>
            </a:r>
            <a:endParaRPr lang="en-US" sz="1500" dirty="0"/>
          </a:p>
        </p:txBody>
      </p:sp>
      <p:sp>
        <p:nvSpPr>
          <p:cNvPr id="5" name="Text 3"/>
          <p:cNvSpPr txBox="1"/>
          <p:nvPr/>
        </p:nvSpPr>
        <p:spPr>
          <a:xfrm>
            <a:off x="502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Source</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208 clients fictifs</a:t>
            </a:r>
            <a:endParaRPr lang="en-US" sz="1100" dirty="0"/>
          </a:p>
        </p:txBody>
      </p:sp>
      <p:sp>
        <p:nvSpPr>
          <p:cNvPr id="6" name="boite-Airflow"/>
          <p:cNvSpPr/>
          <p:nvPr/>
        </p:nvSpPr>
        <p:spPr>
          <a:xfrm>
            <a:off x="2171700" y="1325880"/>
            <a:ext cx="1371600" cy="1143000"/>
          </a:xfrm>
          <a:prstGeom prst="roundRect">
            <a:avLst>
              <a:gd name="adj" fmla="val 8000"/>
            </a:avLst>
          </a:prstGeom>
          <a:solidFill>
            <a:schemeClr val="accent3"/>
          </a:solidFill>
          <a:ln w="12700">
            <a:solidFill>
              <a:schemeClr val="accent3"/>
            </a:solidFill>
            <a:prstDash val="solid"/>
          </a:ln>
        </p:spPr>
      </p:sp>
      <p:sp>
        <p:nvSpPr>
          <p:cNvPr id="7" name="Text 5"/>
          <p:cNvSpPr txBox="1"/>
          <p:nvPr/>
        </p:nvSpPr>
        <p:spPr>
          <a:xfrm>
            <a:off x="2217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Airflow</a:t>
            </a:r>
            <a:endParaRPr lang="en-US" sz="1500" dirty="0"/>
          </a:p>
        </p:txBody>
      </p:sp>
      <p:sp>
        <p:nvSpPr>
          <p:cNvPr id="8" name="Text 6"/>
          <p:cNvSpPr txBox="1"/>
          <p:nvPr/>
        </p:nvSpPr>
        <p:spPr>
          <a:xfrm>
            <a:off x="2217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DAG 1 : vers Mongo</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DAG 2 : vers MySQL</a:t>
            </a:r>
            <a:endParaRPr lang="en-US" sz="1100" dirty="0"/>
          </a:p>
        </p:txBody>
      </p:sp>
      <p:sp>
        <p:nvSpPr>
          <p:cNvPr id="9" name="boite-MongoDB 7"/>
          <p:cNvSpPr/>
          <p:nvPr/>
        </p:nvSpPr>
        <p:spPr>
          <a:xfrm>
            <a:off x="3886200" y="1325880"/>
            <a:ext cx="1371600" cy="1143000"/>
          </a:xfrm>
          <a:prstGeom prst="roundRect">
            <a:avLst>
              <a:gd name="adj" fmla="val 8000"/>
            </a:avLst>
          </a:prstGeom>
          <a:solidFill>
            <a:schemeClr val="accent2"/>
          </a:solidFill>
          <a:ln w="12700">
            <a:solidFill>
              <a:schemeClr val="accent2"/>
            </a:solidFill>
            <a:prstDash val="solid"/>
          </a:ln>
        </p:spPr>
      </p:sp>
      <p:sp>
        <p:nvSpPr>
          <p:cNvPr id="10" name="Text 8"/>
          <p:cNvSpPr txBox="1"/>
          <p:nvPr/>
        </p:nvSpPr>
        <p:spPr>
          <a:xfrm>
            <a:off x="3931920" y="1435608"/>
            <a:ext cx="1280160" cy="32004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MongoDB 7</a:t>
            </a:r>
            <a:endParaRPr lang="en-US" sz="1500" dirty="0"/>
          </a:p>
        </p:txBody>
      </p:sp>
      <p:sp>
        <p:nvSpPr>
          <p:cNvPr id="11" name="Text 9"/>
          <p:cNvSpPr txBox="1"/>
          <p:nvPr/>
        </p:nvSpPr>
        <p:spPr>
          <a:xfrm>
            <a:off x="3931920" y="1783080"/>
            <a:ext cx="1280160" cy="594360"/>
          </a:xfrm>
          <a:prstGeom prst="rect">
            <a:avLst/>
          </a:prstGeom>
          <a:noFill/>
          <a:ln/>
        </p:spPr>
        <p:txBody>
          <a:bodyPr wrap="square" lIns="0" tIns="0" rIns="0" bIns="0" rtlCol="0" anchor="ctr"/>
          <a:lstStyle/>
          <a:p>
            <a:pPr algn="ctr" indent="0" marL="0">
              <a:buNone/>
            </a:pPr>
            <a:r>
              <a:rPr lang="en-US" sz="1100" dirty="0">
                <a:solidFill>
                  <a:schemeClr val="tx1"/>
                </a:solidFill>
                <a:latin typeface="Calibri" pitchFamily="34" charset="0"/>
                <a:ea typeface="Calibri" pitchFamily="34" charset="-122"/>
                <a:cs typeface="Calibri" pitchFamily="34" charset="-120"/>
              </a:rPr>
              <a:t>BASE DE</a:t>
            </a:r>
            <a:endParaRPr lang="en-US" sz="1100" dirty="0"/>
          </a:p>
          <a:p>
            <a:pPr algn="ctr" indent="0" marL="0">
              <a:buNone/>
            </a:pPr>
            <a:r>
              <a:rPr lang="en-US" sz="1100" dirty="0">
                <a:solidFill>
                  <a:schemeClr val="tx1"/>
                </a:solidFill>
                <a:latin typeface="Calibri" pitchFamily="34" charset="0"/>
                <a:ea typeface="Calibri" pitchFamily="34" charset="-122"/>
                <a:cs typeface="Calibri" pitchFamily="34" charset="-120"/>
              </a:rPr>
              <a:t>RÉFÉRENCE</a:t>
            </a:r>
            <a:endParaRPr lang="en-US" sz="1100" dirty="0"/>
          </a:p>
        </p:txBody>
      </p:sp>
      <p:sp>
        <p:nvSpPr>
          <p:cNvPr id="12" name="boite-Laravel 12"/>
          <p:cNvSpPr/>
          <p:nvPr/>
        </p:nvSpPr>
        <p:spPr>
          <a:xfrm>
            <a:off x="5600700" y="1325880"/>
            <a:ext cx="1371600" cy="11430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5646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Laravel 12</a:t>
            </a:r>
            <a:endParaRPr lang="en-US" sz="1500" dirty="0"/>
          </a:p>
        </p:txBody>
      </p:sp>
      <p:sp>
        <p:nvSpPr>
          <p:cNvPr id="14" name="Text 12"/>
          <p:cNvSpPr txBox="1"/>
          <p:nvPr/>
        </p:nvSpPr>
        <p:spPr>
          <a:xfrm>
            <a:off x="5646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Service SOAP</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/soap/clients</a:t>
            </a:r>
            <a:endParaRPr lang="en-US" sz="1100" dirty="0"/>
          </a:p>
        </p:txBody>
      </p:sp>
      <p:sp>
        <p:nvSpPr>
          <p:cNvPr id="15" name="boite-Client SOAP"/>
          <p:cNvSpPr/>
          <p:nvPr/>
        </p:nvSpPr>
        <p:spPr>
          <a:xfrm>
            <a:off x="7315200" y="1325880"/>
            <a:ext cx="1371600" cy="1143000"/>
          </a:xfrm>
          <a:prstGeom prst="roundRect">
            <a:avLst>
              <a:gd name="adj" fmla="val 8000"/>
            </a:avLst>
          </a:prstGeom>
          <a:solidFill>
            <a:schemeClr val="accent5"/>
          </a:solidFill>
          <a:ln w="12700">
            <a:solidFill>
              <a:schemeClr val="accent5"/>
            </a:solidFill>
            <a:prstDash val="solid"/>
          </a:ln>
        </p:spPr>
      </p:sp>
      <p:sp>
        <p:nvSpPr>
          <p:cNvPr id="16" name="Text 14"/>
          <p:cNvSpPr txBox="1"/>
          <p:nvPr/>
        </p:nvSpPr>
        <p:spPr>
          <a:xfrm>
            <a:off x="7360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Client SOAP</a:t>
            </a:r>
            <a:endParaRPr lang="en-US" sz="1500" dirty="0"/>
          </a:p>
        </p:txBody>
      </p:sp>
      <p:sp>
        <p:nvSpPr>
          <p:cNvPr id="17" name="Text 15"/>
          <p:cNvSpPr txBox="1"/>
          <p:nvPr/>
        </p:nvSpPr>
        <p:spPr>
          <a:xfrm>
            <a:off x="7360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SoapUI,</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applications</a:t>
            </a:r>
            <a:endParaRPr lang="en-US" sz="1100" dirty="0"/>
          </a:p>
        </p:txBody>
      </p:sp>
      <p:sp>
        <p:nvSpPr>
          <p:cNvPr id="18" name="fleche-mysql-airflow"/>
          <p:cNvSpPr/>
          <p:nvPr/>
        </p:nvSpPr>
        <p:spPr>
          <a:xfrm>
            <a:off x="1856232" y="1897380"/>
            <a:ext cx="288036" cy="0"/>
          </a:xfrm>
          <a:prstGeom prst="line">
            <a:avLst/>
          </a:prstGeom>
          <a:noFill/>
          <a:ln w="25400">
            <a:solidFill>
              <a:schemeClr val="tx2"/>
            </a:solidFill>
            <a:prstDash val="solid"/>
            <a:tailEnd type="triangle"/>
          </a:ln>
        </p:spPr>
      </p:sp>
      <p:sp>
        <p:nvSpPr>
          <p:cNvPr id="19" name="fleche-airflow-mongo"/>
          <p:cNvSpPr/>
          <p:nvPr/>
        </p:nvSpPr>
        <p:spPr>
          <a:xfrm>
            <a:off x="3570732" y="1897380"/>
            <a:ext cx="288036" cy="0"/>
          </a:xfrm>
          <a:prstGeom prst="line">
            <a:avLst/>
          </a:prstGeom>
          <a:noFill/>
          <a:ln w="25400">
            <a:solidFill>
              <a:schemeClr val="tx2"/>
            </a:solidFill>
            <a:prstDash val="solid"/>
            <a:tailEnd type="triangle"/>
          </a:ln>
        </p:spPr>
      </p:sp>
      <p:sp>
        <p:nvSpPr>
          <p:cNvPr id="20" name="fleche-laravel-mongo"/>
          <p:cNvSpPr/>
          <p:nvPr/>
        </p:nvSpPr>
        <p:spPr>
          <a:xfrm flipH="1">
            <a:off x="5285232" y="1897380"/>
            <a:ext cx="288036" cy="0"/>
          </a:xfrm>
          <a:prstGeom prst="line">
            <a:avLst/>
          </a:prstGeom>
          <a:noFill/>
          <a:ln w="25400">
            <a:solidFill>
              <a:schemeClr val="tx2"/>
            </a:solidFill>
            <a:prstDash val="solid"/>
            <a:tailEnd type="triangle"/>
          </a:ln>
        </p:spPr>
      </p:sp>
      <p:sp>
        <p:nvSpPr>
          <p:cNvPr id="21" name="fleche-client-laravel"/>
          <p:cNvSpPr/>
          <p:nvPr/>
        </p:nvSpPr>
        <p:spPr>
          <a:xfrm flipH="1">
            <a:off x="6999732" y="1897380"/>
            <a:ext cx="288036" cy="0"/>
          </a:xfrm>
          <a:prstGeom prst="line">
            <a:avLst/>
          </a:prstGeom>
          <a:noFill/>
          <a:ln w="25400">
            <a:solidFill>
              <a:schemeClr val="tx2"/>
            </a:solidFill>
            <a:prstDash val="solid"/>
            <a:tailEnd type="triangle"/>
          </a:ln>
        </p:spPr>
      </p:sp>
      <p:sp>
        <p:nvSpPr>
          <p:cNvPr id="22" name="Text 20"/>
          <p:cNvSpPr txBox="1"/>
          <p:nvPr/>
        </p:nvSpPr>
        <p:spPr>
          <a:xfrm>
            <a:off x="457200" y="2542032"/>
            <a:ext cx="402336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lecture · contrôle · upsert idempotent</a:t>
            </a:r>
            <a:endParaRPr lang="en-US" sz="1100" dirty="0"/>
          </a:p>
        </p:txBody>
      </p:sp>
      <p:sp>
        <p:nvSpPr>
          <p:cNvPr id="23" name="Text 21"/>
          <p:cNvSpPr txBox="1"/>
          <p:nvPr/>
        </p:nvSpPr>
        <p:spPr>
          <a:xfrm>
            <a:off x="4846320" y="2542032"/>
            <a:ext cx="384048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SOAP 1.1 / WSDL · lecture/écriture Mongo</a:t>
            </a:r>
            <a:endParaRPr lang="en-US" sz="1100" dirty="0"/>
          </a:p>
        </p:txBody>
      </p:sp>
      <p:sp>
        <p:nvSpPr>
          <p:cNvPr id="24" name="bandeau-zabbix"/>
          <p:cNvSpPr/>
          <p:nvPr/>
        </p:nvSpPr>
        <p:spPr>
          <a:xfrm>
            <a:off x="457200" y="3154680"/>
            <a:ext cx="8229600" cy="685800"/>
          </a:xfrm>
          <a:prstGeom prst="roundRect">
            <a:avLst>
              <a:gd name="adj" fmla="val 10667"/>
            </a:avLst>
          </a:prstGeom>
          <a:solidFill>
            <a:schemeClr val="tx2"/>
          </a:solidFill>
          <a:ln w="12700">
            <a:solidFill>
              <a:schemeClr val="tx2"/>
            </a:solidFill>
            <a:prstDash val="solid"/>
          </a:ln>
        </p:spPr>
      </p:sp>
      <p:sp>
        <p:nvSpPr>
          <p:cNvPr id="25" name="icone-zabbix-cercle"/>
          <p:cNvSpPr/>
          <p:nvPr/>
        </p:nvSpPr>
        <p:spPr>
          <a:xfrm>
            <a:off x="640080" y="3268980"/>
            <a:ext cx="457200" cy="457200"/>
          </a:xfrm>
          <a:prstGeom prst="ellipse">
            <a:avLst/>
          </a:prstGeom>
          <a:solidFill>
            <a:srgbClr val="F2A900"/>
          </a:solidFill>
          <a:ln w="12700">
            <a:solidFill>
              <a:srgbClr val="F2A900"/>
            </a:solidFill>
            <a:prstDash val="solid"/>
          </a:ln>
        </p:spPr>
      </p:sp>
      <p:pic>
        <p:nvPicPr>
          <p:cNvPr id="26" name="icone-zabbix" descr="icone-zabbix">    </p:cNvPr>
          <p:cNvPicPr>
            <a:picLocks noChangeAspect="1"/>
          </p:cNvPicPr>
          <p:nvPr/>
        </p:nvPicPr>
        <p:blipFill>
          <a:blip r:embed="rId1"/>
          <a:stretch>
            <a:fillRect/>
          </a:stretch>
        </p:blipFill>
        <p:spPr>
          <a:xfrm>
            <a:off x="754380" y="3383280"/>
            <a:ext cx="228600" cy="228600"/>
          </a:xfrm>
          <a:prstGeom prst="rect">
            <a:avLst/>
          </a:prstGeom>
        </p:spPr>
      </p:pic>
      <p:sp>
        <p:nvSpPr>
          <p:cNvPr id="27" name="Text 24"/>
          <p:cNvSpPr txBox="1"/>
          <p:nvPr/>
        </p:nvSpPr>
        <p:spPr>
          <a:xfrm>
            <a:off x="1280160" y="3200400"/>
            <a:ext cx="457200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Zabbix 7.0 : serveur + web + agent 2</a:t>
            </a:r>
            <a:endParaRPr lang="en-US" sz="1500" dirty="0"/>
          </a:p>
        </p:txBody>
      </p:sp>
      <p:sp>
        <p:nvSpPr>
          <p:cNvPr id="28" name="Text 25"/>
          <p:cNvSpPr txBox="1"/>
          <p:nvPr/>
        </p:nvSpPr>
        <p:spPr>
          <a:xfrm>
            <a:off x="1280160" y="3547872"/>
            <a:ext cx="7132320" cy="256032"/>
          </a:xfrm>
          <a:prstGeom prst="rect">
            <a:avLst/>
          </a:prstGeom>
          <a:noFill/>
          <a:ln/>
        </p:spPr>
        <p:txBody>
          <a:bodyPr wrap="square" lIns="0" tIns="0" rIns="0" bIns="0" rtlCol="0" anchor="ctr"/>
          <a:lstStyle/>
          <a:p>
            <a:pPr indent="0" marL="0">
              <a:buNone/>
            </a:pPr>
            <a:r>
              <a:rPr lang="en-US" sz="1200" dirty="0">
                <a:solidFill>
                  <a:schemeClr val="bg2"/>
                </a:solidFill>
                <a:latin typeface="Calibri" pitchFamily="34" charset="0"/>
                <a:ea typeface="Calibri" pitchFamily="34" charset="-122"/>
                <a:cs typeface="Calibri" pitchFamily="34" charset="-120"/>
              </a:rPr>
              <a:t>Santé, métriques, WSDL et consultation SOAP périodique</a:t>
            </a:r>
            <a:endParaRPr lang="en-US" sz="1200" dirty="0"/>
          </a:p>
        </p:txBody>
      </p:sp>
      <p:sp>
        <p:nvSpPr>
          <p:cNvPr id="29" name="Text 26"/>
          <p:cNvSpPr txBox="1"/>
          <p:nvPr/>
        </p:nvSpPr>
        <p:spPr>
          <a:xfrm>
            <a:off x="457200" y="4114800"/>
            <a:ext cx="7772400" cy="32004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11 services Compose · secrets générés localement · ports locaux</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Données fictives et qualité</a:t>
            </a:r>
            <a:endParaRPr lang="en-US" sz="3000" dirty="0"/>
          </a:p>
        </p:txBody>
      </p:sp>
      <p:sp>
        <p:nvSpPr>
          <p:cNvPr id="3" name="carte-chiffre-1"/>
          <p:cNvSpPr/>
          <p:nvPr/>
        </p:nvSpPr>
        <p:spPr>
          <a:xfrm>
            <a:off x="457200" y="1188720"/>
            <a:ext cx="2560320" cy="1417320"/>
          </a:xfrm>
          <a:prstGeom prst="roundRect">
            <a:avLst>
              <a:gd name="adj" fmla="val 6452"/>
            </a:avLst>
          </a:prstGeom>
          <a:solidFill>
            <a:schemeClr val="bg2"/>
          </a:solidFill>
          <a:ln w="12700">
            <a:solidFill>
              <a:schemeClr val="bg2"/>
            </a:solidFill>
            <a:prstDash val="solid"/>
          </a:ln>
        </p:spPr>
      </p:sp>
      <p:sp>
        <p:nvSpPr>
          <p:cNvPr id="4" name="Text 2"/>
          <p:cNvSpPr txBox="1"/>
          <p:nvPr/>
        </p:nvSpPr>
        <p:spPr>
          <a:xfrm>
            <a:off x="45720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5"/>
                </a:solidFill>
                <a:latin typeface="Cambria" pitchFamily="34" charset="0"/>
                <a:ea typeface="Cambria" pitchFamily="34" charset="-122"/>
                <a:cs typeface="Cambria" pitchFamily="34" charset="-120"/>
              </a:rPr>
              <a:t>208</a:t>
            </a:r>
            <a:endParaRPr lang="en-US" sz="5400" dirty="0"/>
          </a:p>
        </p:txBody>
      </p:sp>
      <p:sp>
        <p:nvSpPr>
          <p:cNvPr id="5" name="Text 3"/>
          <p:cNvSpPr txBox="1"/>
          <p:nvPr/>
        </p:nvSpPr>
        <p:spPr>
          <a:xfrm>
            <a:off x="54864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lignes dans MySQL</a:t>
            </a:r>
            <a:endParaRPr lang="en-US" sz="1400" dirty="0"/>
          </a:p>
        </p:txBody>
      </p:sp>
      <p:sp>
        <p:nvSpPr>
          <p:cNvPr id="6" name="carte-chiffre-2"/>
          <p:cNvSpPr/>
          <p:nvPr/>
        </p:nvSpPr>
        <p:spPr>
          <a:xfrm>
            <a:off x="3291840" y="1188720"/>
            <a:ext cx="2560320" cy="1417320"/>
          </a:xfrm>
          <a:prstGeom prst="roundRect">
            <a:avLst>
              <a:gd name="adj" fmla="val 6452"/>
            </a:avLst>
          </a:prstGeom>
          <a:solidFill>
            <a:schemeClr val="bg2"/>
          </a:solidFill>
          <a:ln w="12700">
            <a:solidFill>
              <a:schemeClr val="bg2"/>
            </a:solidFill>
            <a:prstDash val="solid"/>
          </a:ln>
        </p:spPr>
      </p:sp>
      <p:sp>
        <p:nvSpPr>
          <p:cNvPr id="7" name="Text 5"/>
          <p:cNvSpPr txBox="1"/>
          <p:nvPr/>
        </p:nvSpPr>
        <p:spPr>
          <a:xfrm>
            <a:off x="329184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6"/>
                </a:solidFill>
                <a:latin typeface="Cambria" pitchFamily="34" charset="0"/>
                <a:ea typeface="Cambria" pitchFamily="34" charset="-122"/>
                <a:cs typeface="Cambria" pitchFamily="34" charset="-120"/>
              </a:rPr>
              <a:t>201</a:t>
            </a:r>
            <a:endParaRPr lang="en-US" sz="5400" dirty="0"/>
          </a:p>
        </p:txBody>
      </p:sp>
      <p:sp>
        <p:nvSpPr>
          <p:cNvPr id="8" name="Text 6"/>
          <p:cNvSpPr txBox="1"/>
          <p:nvPr/>
        </p:nvSpPr>
        <p:spPr>
          <a:xfrm>
            <a:off x="338328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clients chargés dans MongoDB</a:t>
            </a:r>
            <a:endParaRPr lang="en-US" sz="1400" dirty="0"/>
          </a:p>
        </p:txBody>
      </p:sp>
      <p:sp>
        <p:nvSpPr>
          <p:cNvPr id="9" name="carte-chiffre-3"/>
          <p:cNvSpPr/>
          <p:nvPr/>
        </p:nvSpPr>
        <p:spPr>
          <a:xfrm>
            <a:off x="6126480" y="1188720"/>
            <a:ext cx="2560320" cy="1417320"/>
          </a:xfrm>
          <a:prstGeom prst="roundRect">
            <a:avLst>
              <a:gd name="adj" fmla="val 6452"/>
            </a:avLst>
          </a:prstGeom>
          <a:solidFill>
            <a:schemeClr val="bg2"/>
          </a:solidFill>
          <a:ln w="12700">
            <a:solidFill>
              <a:schemeClr val="bg2"/>
            </a:solidFill>
            <a:prstDash val="solid"/>
          </a:ln>
        </p:spPr>
      </p:sp>
      <p:sp>
        <p:nvSpPr>
          <p:cNvPr id="10" name="Text 8"/>
          <p:cNvSpPr txBox="1"/>
          <p:nvPr/>
        </p:nvSpPr>
        <p:spPr>
          <a:xfrm>
            <a:off x="612648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4"/>
                </a:solidFill>
                <a:latin typeface="Cambria" pitchFamily="34" charset="0"/>
                <a:ea typeface="Cambria" pitchFamily="34" charset="-122"/>
                <a:cs typeface="Cambria" pitchFamily="34" charset="-120"/>
              </a:rPr>
              <a:t>7</a:t>
            </a:r>
            <a:endParaRPr lang="en-US" sz="5400" dirty="0"/>
          </a:p>
        </p:txBody>
      </p:sp>
      <p:sp>
        <p:nvSpPr>
          <p:cNvPr id="11" name="Text 9"/>
          <p:cNvSpPr txBox="1"/>
          <p:nvPr/>
        </p:nvSpPr>
        <p:spPr>
          <a:xfrm>
            <a:off x="621792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rejetés à dessein</a:t>
            </a:r>
            <a:endParaRPr lang="en-US" sz="1400" dirty="0"/>
          </a:p>
        </p:txBody>
      </p:sp>
      <p:graphicFrame>
        <p:nvGraphicFramePr>
          <p:cNvPr id="5" name="tableau-rejets"/>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011680"/>
                <a:gridCol w="2743200"/>
                <a:gridCol w="3474720"/>
              </a:tblGrid>
              <a:tr h="310896">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Lignes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Défaut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Motif tracé (clients_rejected)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CLI-000201/202</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CLI-000203/204</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téléphone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telephone_invalide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CLI-000205</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avec chiffre (K0NE)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CLI-000206/207</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ou prénom vide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nom_manquant / prenom_manquant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Airflow : chargement idempotent</a:t>
            </a:r>
            <a:endParaRPr lang="en-US" sz="3000" dirty="0"/>
          </a:p>
        </p:txBody>
      </p:sp>
      <p:sp>
        <p:nvSpPr>
          <p:cNvPr id="3" name="etape-1"/>
          <p:cNvSpPr/>
          <p:nvPr/>
        </p:nvSpPr>
        <p:spPr>
          <a:xfrm>
            <a:off x="457200" y="1188720"/>
            <a:ext cx="2560320" cy="1188720"/>
          </a:xfrm>
          <a:prstGeom prst="roundRect">
            <a:avLst>
              <a:gd name="adj" fmla="val 7692"/>
            </a:avLst>
          </a:prstGeom>
          <a:solidFill>
            <a:schemeClr val="bg2"/>
          </a:solidFill>
          <a:ln w="12700">
            <a:solidFill>
              <a:schemeClr val="bg2"/>
            </a:solidFill>
            <a:prstDash val="solid"/>
          </a:ln>
        </p:spPr>
      </p:sp>
      <p:sp>
        <p:nvSpPr>
          <p:cNvPr id="4" name="icone-etape-1-cercle"/>
          <p:cNvSpPr/>
          <p:nvPr/>
        </p:nvSpPr>
        <p:spPr>
          <a:xfrm>
            <a:off x="594360" y="1325880"/>
            <a:ext cx="457200" cy="457200"/>
          </a:xfrm>
          <a:prstGeom prst="ellipse">
            <a:avLst/>
          </a:prstGeom>
          <a:solidFill>
            <a:srgbClr val="64767F"/>
          </a:solidFill>
          <a:ln w="12700">
            <a:solidFill>
              <a:srgbClr val="64767F"/>
            </a:solidFill>
            <a:prstDash val="solid"/>
          </a:ln>
        </p:spPr>
      </p:sp>
      <p:pic>
        <p:nvPicPr>
          <p:cNvPr id="5" name="icone-etape-1" descr="icone-etape-1">    </p:cNvPr>
          <p:cNvPicPr>
            <a:picLocks noChangeAspect="1"/>
          </p:cNvPicPr>
          <p:nvPr/>
        </p:nvPicPr>
        <p:blipFill>
          <a:blip r:embed="rId1"/>
          <a:stretch>
            <a:fillRect/>
          </a:stretch>
        </p:blipFill>
        <p:spPr>
          <a:xfrm>
            <a:off x="708660" y="1440180"/>
            <a:ext cx="228600" cy="228600"/>
          </a:xfrm>
          <a:prstGeom prst="rect">
            <a:avLst/>
          </a:prstGeom>
        </p:spPr>
      </p:pic>
      <p:sp>
        <p:nvSpPr>
          <p:cNvPr id="6" name="Text 3"/>
          <p:cNvSpPr txBox="1"/>
          <p:nvPr/>
        </p:nvSpPr>
        <p:spPr>
          <a:xfrm>
            <a:off x="118872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 Extraire</a:t>
            </a:r>
            <a:endParaRPr lang="en-US" sz="1600" dirty="0"/>
          </a:p>
        </p:txBody>
      </p:sp>
      <p:sp>
        <p:nvSpPr>
          <p:cNvPr id="7" name="Text 4"/>
          <p:cNvSpPr txBox="1"/>
          <p:nvPr/>
        </p:nvSpPr>
        <p:spPr>
          <a:xfrm>
            <a:off x="59436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SELECT sur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(dates en ISO)</a:t>
            </a:r>
            <a:endParaRPr lang="en-US" sz="1200" dirty="0"/>
          </a:p>
        </p:txBody>
      </p:sp>
      <p:sp>
        <p:nvSpPr>
          <p:cNvPr id="8" name="chevron-1"/>
          <p:cNvSpPr/>
          <p:nvPr/>
        </p:nvSpPr>
        <p:spPr>
          <a:xfrm>
            <a:off x="3044952" y="1664208"/>
            <a:ext cx="219456" cy="237744"/>
          </a:xfrm>
          <a:prstGeom prst="rightArrow">
            <a:avLst/>
          </a:prstGeom>
          <a:solidFill>
            <a:schemeClr val="accent2"/>
          </a:solidFill>
          <a:ln w="12700">
            <a:solidFill>
              <a:schemeClr val="accent2"/>
            </a:solidFill>
            <a:prstDash val="solid"/>
          </a:ln>
        </p:spPr>
      </p:sp>
      <p:sp>
        <p:nvSpPr>
          <p:cNvPr id="9" name="etape-2"/>
          <p:cNvSpPr/>
          <p:nvPr/>
        </p:nvSpPr>
        <p:spPr>
          <a:xfrm>
            <a:off x="3291840" y="1188720"/>
            <a:ext cx="2560320" cy="1188720"/>
          </a:xfrm>
          <a:prstGeom prst="roundRect">
            <a:avLst>
              <a:gd name="adj" fmla="val 7692"/>
            </a:avLst>
          </a:prstGeom>
          <a:solidFill>
            <a:schemeClr val="bg2"/>
          </a:solidFill>
          <a:ln w="12700">
            <a:solidFill>
              <a:schemeClr val="bg2"/>
            </a:solidFill>
            <a:prstDash val="solid"/>
          </a:ln>
        </p:spPr>
      </p:sp>
      <p:sp>
        <p:nvSpPr>
          <p:cNvPr id="10" name="icone-etape-2-cercle"/>
          <p:cNvSpPr/>
          <p:nvPr/>
        </p:nvSpPr>
        <p:spPr>
          <a:xfrm>
            <a:off x="3429000" y="1325880"/>
            <a:ext cx="457200" cy="457200"/>
          </a:xfrm>
          <a:prstGeom prst="ellipse">
            <a:avLst/>
          </a:prstGeom>
          <a:solidFill>
            <a:srgbClr val="2563EB"/>
          </a:solidFill>
          <a:ln w="12700">
            <a:solidFill>
              <a:srgbClr val="2563EB"/>
            </a:solidFill>
            <a:prstDash val="solid"/>
          </a:ln>
        </p:spPr>
      </p:sp>
      <p:pic>
        <p:nvPicPr>
          <p:cNvPr id="11" name="icone-etape-2" descr="icone-etape-2">    </p:cNvPr>
          <p:cNvPicPr>
            <a:picLocks noChangeAspect="1"/>
          </p:cNvPicPr>
          <p:nvPr/>
        </p:nvPicPr>
        <p:blipFill>
          <a:blip r:embed="rId2"/>
          <a:stretch>
            <a:fillRect/>
          </a:stretch>
        </p:blipFill>
        <p:spPr>
          <a:xfrm>
            <a:off x="3543300" y="1440180"/>
            <a:ext cx="228600" cy="228600"/>
          </a:xfrm>
          <a:prstGeom prst="rect">
            <a:avLst/>
          </a:prstGeom>
        </p:spPr>
      </p:pic>
      <p:sp>
        <p:nvSpPr>
          <p:cNvPr id="12" name="Text 8"/>
          <p:cNvSpPr txBox="1"/>
          <p:nvPr/>
        </p:nvSpPr>
        <p:spPr>
          <a:xfrm>
            <a:off x="402336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 Contrôler</a:t>
            </a:r>
            <a:endParaRPr lang="en-US" sz="1600" dirty="0"/>
          </a:p>
        </p:txBody>
      </p:sp>
      <p:sp>
        <p:nvSpPr>
          <p:cNvPr id="13" name="Text 9"/>
          <p:cNvSpPr txBox="1"/>
          <p:nvPr/>
        </p:nvSpPr>
        <p:spPr>
          <a:xfrm>
            <a:off x="342900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8 règles de qualité</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normalisation</a:t>
            </a:r>
            <a:endParaRPr lang="en-US" sz="1200" dirty="0"/>
          </a:p>
        </p:txBody>
      </p:sp>
      <p:sp>
        <p:nvSpPr>
          <p:cNvPr id="14" name="chevron-2"/>
          <p:cNvSpPr/>
          <p:nvPr/>
        </p:nvSpPr>
        <p:spPr>
          <a:xfrm>
            <a:off x="5879592" y="1664208"/>
            <a:ext cx="219456" cy="237744"/>
          </a:xfrm>
          <a:prstGeom prst="rightArrow">
            <a:avLst/>
          </a:prstGeom>
          <a:solidFill>
            <a:schemeClr val="accent2"/>
          </a:solidFill>
          <a:ln w="12700">
            <a:solidFill>
              <a:schemeClr val="accent2"/>
            </a:solidFill>
            <a:prstDash val="solid"/>
          </a:ln>
        </p:spPr>
      </p:sp>
      <p:sp>
        <p:nvSpPr>
          <p:cNvPr id="15" name="etape-3"/>
          <p:cNvSpPr/>
          <p:nvPr/>
        </p:nvSpPr>
        <p:spPr>
          <a:xfrm>
            <a:off x="6126480" y="1188720"/>
            <a:ext cx="2560320" cy="1188720"/>
          </a:xfrm>
          <a:prstGeom prst="roundRect">
            <a:avLst>
              <a:gd name="adj" fmla="val 7692"/>
            </a:avLst>
          </a:prstGeom>
          <a:solidFill>
            <a:schemeClr val="bg2"/>
          </a:solidFill>
          <a:ln w="12700">
            <a:solidFill>
              <a:schemeClr val="bg2"/>
            </a:solidFill>
            <a:prstDash val="solid"/>
          </a:ln>
        </p:spPr>
      </p:sp>
      <p:sp>
        <p:nvSpPr>
          <p:cNvPr id="16" name="icone-etape-3-cercle"/>
          <p:cNvSpPr/>
          <p:nvPr/>
        </p:nvSpPr>
        <p:spPr>
          <a:xfrm>
            <a:off x="6263640" y="1325880"/>
            <a:ext cx="457200" cy="457200"/>
          </a:xfrm>
          <a:prstGeom prst="ellipse">
            <a:avLst/>
          </a:prstGeom>
          <a:solidFill>
            <a:srgbClr val="0F766E"/>
          </a:solidFill>
          <a:ln w="12700">
            <a:solidFill>
              <a:srgbClr val="0F766E"/>
            </a:solidFill>
            <a:prstDash val="solid"/>
          </a:ln>
        </p:spPr>
      </p:sp>
      <p:pic>
        <p:nvPicPr>
          <p:cNvPr id="17" name="icone-etape-3" descr="icone-etape-3">    </p:cNvPr>
          <p:cNvPicPr>
            <a:picLocks noChangeAspect="1"/>
          </p:cNvPicPr>
          <p:nvPr/>
        </p:nvPicPr>
        <p:blipFill>
          <a:blip r:embed="rId3"/>
          <a:stretch>
            <a:fillRect/>
          </a:stretch>
        </p:blipFill>
        <p:spPr>
          <a:xfrm>
            <a:off x="6377940" y="1440180"/>
            <a:ext cx="228600" cy="228600"/>
          </a:xfrm>
          <a:prstGeom prst="rect">
            <a:avLst/>
          </a:prstGeom>
        </p:spPr>
      </p:pic>
      <p:sp>
        <p:nvSpPr>
          <p:cNvPr id="18" name="Text 13"/>
          <p:cNvSpPr txBox="1"/>
          <p:nvPr/>
        </p:nvSpPr>
        <p:spPr>
          <a:xfrm>
            <a:off x="685800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 Charger</a:t>
            </a:r>
            <a:endParaRPr lang="en-US" sz="1600" dirty="0"/>
          </a:p>
        </p:txBody>
      </p:sp>
      <p:sp>
        <p:nvSpPr>
          <p:cNvPr id="19" name="Text 14"/>
          <p:cNvSpPr txBox="1"/>
          <p:nvPr/>
        </p:nvSpPr>
        <p:spPr>
          <a:xfrm>
            <a:off x="626364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upsert MongoDB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bilan etl_runs</a:t>
            </a:r>
            <a:endParaRPr lang="en-US" sz="1200" dirty="0"/>
          </a:p>
        </p:txBody>
      </p:sp>
      <p:graphicFrame>
        <p:nvGraphicFramePr>
          <p:cNvPr id="6" name="tableau-regles-chargement"/>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2377440"/>
                <a:gridCol w="5852160"/>
              </a:tblGrid>
              <a:tr h="329184">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Cas rencontré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Décision du DAG 1</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Client nouveau</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insertion, version = 1, sync_status = synced</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modifiée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mise à jour si la fiche reste gérée par MySQL</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identique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aucune écriture : la version ne bouge pas</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Modifié côté Mongo</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jamais écrasé, même après retour vers MySQL</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1" name="Text 15"/>
          <p:cNvSpPr txBox="1"/>
          <p:nvPr/>
        </p:nvSpPr>
        <p:spPr>
          <a:xfrm>
            <a:off x="457200" y="4389120"/>
            <a:ext cx="7772400" cy="274320"/>
          </a:xfrm>
          <a:prstGeom prst="rect">
            <a:avLst/>
          </a:prstGeom>
          <a:noFill/>
          <a:ln/>
        </p:spPr>
        <p:txBody>
          <a:bodyPr wrap="square" lIns="0" tIns="0" rIns="0" bIns="0" rtlCol="0" anchor="ctr"/>
          <a:lstStyle/>
          <a:p>
            <a:pPr indent="0" marL="0">
              <a:buNone/>
            </a:pPr>
            <a:r>
              <a:rPr lang="en-US" sz="1300" i="1" dirty="0">
                <a:solidFill>
                  <a:schemeClr val="accent1"/>
                </a:solidFill>
                <a:latin typeface="Calibri" pitchFamily="34" charset="0"/>
                <a:ea typeface="Calibri" pitchFamily="34" charset="-122"/>
                <a:cs typeface="Calibri" pitchFamily="34" charset="-120"/>
              </a:rPr>
              <a:t>Sur une base fraîche : relancer l’import ne crée aucun doublon.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MongoDB : base de référence</a:t>
            </a:r>
            <a:endParaRPr lang="en-US" sz="3000" dirty="0"/>
          </a:p>
        </p:txBody>
      </p:sp>
      <p:sp>
        <p:nvSpPr>
          <p:cNvPr id="3" name="ligne-collection-clients"/>
          <p:cNvSpPr/>
          <p:nvPr/>
        </p:nvSpPr>
        <p:spPr>
          <a:xfrm>
            <a:off x="457200" y="1188720"/>
            <a:ext cx="8229600" cy="530352"/>
          </a:xfrm>
          <a:prstGeom prst="roundRect">
            <a:avLst>
              <a:gd name="adj" fmla="val 10345"/>
            </a:avLst>
          </a:prstGeom>
          <a:solidFill>
            <a:schemeClr val="accent2"/>
          </a:solidFill>
          <a:ln w="12700">
            <a:solidFill>
              <a:schemeClr val="bg2"/>
            </a:solidFill>
            <a:prstDash val="solid"/>
          </a:ln>
        </p:spPr>
      </p:sp>
      <p:sp>
        <p:nvSpPr>
          <p:cNvPr id="4" name="Text 2"/>
          <p:cNvSpPr txBox="1"/>
          <p:nvPr/>
        </p:nvSpPr>
        <p:spPr>
          <a:xfrm>
            <a:off x="640080" y="118872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a:t>
            </a:r>
            <a:endParaRPr lang="en-US" sz="1400" dirty="0"/>
          </a:p>
        </p:txBody>
      </p:sp>
      <p:sp>
        <p:nvSpPr>
          <p:cNvPr id="5" name="Text 3"/>
          <p:cNvSpPr txBox="1"/>
          <p:nvPr/>
        </p:nvSpPr>
        <p:spPr>
          <a:xfrm>
            <a:off x="2926080" y="118872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Référence. JSON Schema strict, index uniques (code, e-mail), version, drapeaux de synchronisation</a:t>
            </a:r>
            <a:endParaRPr lang="en-US" sz="1250" dirty="0"/>
          </a:p>
        </p:txBody>
      </p:sp>
      <p:sp>
        <p:nvSpPr>
          <p:cNvPr id="6" name="ligne-collection-clients_rejected"/>
          <p:cNvSpPr/>
          <p:nvPr/>
        </p:nvSpPr>
        <p:spPr>
          <a:xfrm>
            <a:off x="457200" y="1828800"/>
            <a:ext cx="8229600" cy="530352"/>
          </a:xfrm>
          <a:prstGeom prst="roundRect">
            <a:avLst>
              <a:gd name="adj" fmla="val 10345"/>
            </a:avLst>
          </a:prstGeom>
          <a:solidFill>
            <a:schemeClr val="bg2"/>
          </a:solidFill>
          <a:ln w="12700">
            <a:solidFill>
              <a:schemeClr val="bg2"/>
            </a:solidFill>
            <a:prstDash val="solid"/>
          </a:ln>
        </p:spPr>
      </p:sp>
      <p:sp>
        <p:nvSpPr>
          <p:cNvPr id="7" name="Text 5"/>
          <p:cNvSpPr txBox="1"/>
          <p:nvPr/>
        </p:nvSpPr>
        <p:spPr>
          <a:xfrm>
            <a:off x="640080" y="182880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clients_rejected</a:t>
            </a:r>
            <a:endParaRPr lang="en-US" sz="1400" dirty="0"/>
          </a:p>
        </p:txBody>
      </p:sp>
      <p:sp>
        <p:nvSpPr>
          <p:cNvPr id="8" name="Text 6"/>
          <p:cNvSpPr txBox="1"/>
          <p:nvPr/>
        </p:nvSpPr>
        <p:spPr>
          <a:xfrm>
            <a:off x="2926080" y="182880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Lignes refusées par le contrôle qualité, avec motifs</a:t>
            </a:r>
            <a:endParaRPr lang="en-US" sz="1250" dirty="0"/>
          </a:p>
        </p:txBody>
      </p:sp>
      <p:sp>
        <p:nvSpPr>
          <p:cNvPr id="9" name="ligne-collection-etl_runs"/>
          <p:cNvSpPr/>
          <p:nvPr/>
        </p:nvSpPr>
        <p:spPr>
          <a:xfrm>
            <a:off x="457200" y="2468880"/>
            <a:ext cx="8229600" cy="530352"/>
          </a:xfrm>
          <a:prstGeom prst="roundRect">
            <a:avLst>
              <a:gd name="adj" fmla="val 10345"/>
            </a:avLst>
          </a:prstGeom>
          <a:solidFill>
            <a:schemeClr val="bg2"/>
          </a:solidFill>
          <a:ln w="12700">
            <a:solidFill>
              <a:schemeClr val="bg2"/>
            </a:solidFill>
            <a:prstDash val="solid"/>
          </a:ln>
        </p:spPr>
      </p:sp>
      <p:sp>
        <p:nvSpPr>
          <p:cNvPr id="10" name="Text 8"/>
          <p:cNvSpPr txBox="1"/>
          <p:nvPr/>
        </p:nvSpPr>
        <p:spPr>
          <a:xfrm>
            <a:off x="640080" y="246888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etl_runs</a:t>
            </a:r>
            <a:endParaRPr lang="en-US" sz="1400" dirty="0"/>
          </a:p>
        </p:txBody>
      </p:sp>
      <p:sp>
        <p:nvSpPr>
          <p:cNvPr id="11" name="Text 9"/>
          <p:cNvSpPr txBox="1"/>
          <p:nvPr/>
        </p:nvSpPr>
        <p:spPr>
          <a:xfrm>
            <a:off x="2926080" y="246888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Bilan de chaque exécution : extraits, insérés, mis à jour, rejetés</a:t>
            </a:r>
            <a:endParaRPr lang="en-US" sz="1250" dirty="0"/>
          </a:p>
        </p:txBody>
      </p:sp>
      <p:sp>
        <p:nvSpPr>
          <p:cNvPr id="12" name="ligne-collection-reconciliation_log"/>
          <p:cNvSpPr/>
          <p:nvPr/>
        </p:nvSpPr>
        <p:spPr>
          <a:xfrm>
            <a:off x="457200" y="3108960"/>
            <a:ext cx="8229600" cy="530352"/>
          </a:xfrm>
          <a:prstGeom prst="roundRect">
            <a:avLst>
              <a:gd name="adj" fmla="val 10345"/>
            </a:avLst>
          </a:prstGeom>
          <a:solidFill>
            <a:schemeClr val="bg2"/>
          </a:solidFill>
          <a:ln w="12700">
            <a:solidFill>
              <a:schemeClr val="bg2"/>
            </a:solidFill>
            <a:prstDash val="solid"/>
          </a:ln>
        </p:spPr>
      </p:sp>
      <p:sp>
        <p:nvSpPr>
          <p:cNvPr id="13" name="Text 11"/>
          <p:cNvSpPr txBox="1"/>
          <p:nvPr/>
        </p:nvSpPr>
        <p:spPr>
          <a:xfrm>
            <a:off x="640080" y="310896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reconciliation_log</a:t>
            </a:r>
            <a:endParaRPr lang="en-US" sz="1400" dirty="0"/>
          </a:p>
        </p:txBody>
      </p:sp>
      <p:sp>
        <p:nvSpPr>
          <p:cNvPr id="14" name="Text 12"/>
          <p:cNvSpPr txBox="1"/>
          <p:nvPr/>
        </p:nvSpPr>
        <p:spPr>
          <a:xfrm>
            <a:off x="2926080" y="310896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Décisions du DAG 2, dont les lignes MySQL écrasées</a:t>
            </a:r>
            <a:endParaRPr lang="en-US" sz="1250" dirty="0"/>
          </a:p>
        </p:txBody>
      </p:sp>
      <p:sp>
        <p:nvSpPr>
          <p:cNvPr id="15" name="ligne-collection-soap_calls"/>
          <p:cNvSpPr/>
          <p:nvPr/>
        </p:nvSpPr>
        <p:spPr>
          <a:xfrm>
            <a:off x="457200" y="3749040"/>
            <a:ext cx="8229600" cy="530352"/>
          </a:xfrm>
          <a:prstGeom prst="roundRect">
            <a:avLst>
              <a:gd name="adj" fmla="val 10345"/>
            </a:avLst>
          </a:prstGeom>
          <a:solidFill>
            <a:schemeClr val="bg2"/>
          </a:solidFill>
          <a:ln w="12700">
            <a:solidFill>
              <a:schemeClr val="bg2"/>
            </a:solidFill>
            <a:prstDash val="solid"/>
          </a:ln>
        </p:spPr>
      </p:sp>
      <p:sp>
        <p:nvSpPr>
          <p:cNvPr id="16" name="Text 14"/>
          <p:cNvSpPr txBox="1"/>
          <p:nvPr/>
        </p:nvSpPr>
        <p:spPr>
          <a:xfrm>
            <a:off x="640080" y="374904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soap_calls</a:t>
            </a:r>
            <a:endParaRPr lang="en-US" sz="1400" dirty="0"/>
          </a:p>
        </p:txBody>
      </p:sp>
      <p:sp>
        <p:nvSpPr>
          <p:cNvPr id="17" name="Text 15"/>
          <p:cNvSpPr txBox="1"/>
          <p:nvPr/>
        </p:nvSpPr>
        <p:spPr>
          <a:xfrm>
            <a:off x="2926080" y="374904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Appels SOAP pour la supervision, purge TTL à 7 jours</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Le service SOAP</a:t>
            </a:r>
            <a:endParaRPr lang="en-US" sz="3000" dirty="0"/>
          </a:p>
        </p:txBody>
      </p:sp>
      <p:sp>
        <p:nvSpPr>
          <p:cNvPr id="3" name="carte-operation-getClientDetails"/>
          <p:cNvSpPr/>
          <p:nvPr/>
        </p:nvSpPr>
        <p:spPr>
          <a:xfrm>
            <a:off x="457200" y="1188720"/>
            <a:ext cx="2560320" cy="2331720"/>
          </a:xfrm>
          <a:prstGeom prst="roundRect">
            <a:avLst>
              <a:gd name="adj" fmla="val 3922"/>
            </a:avLst>
          </a:prstGeom>
          <a:solidFill>
            <a:schemeClr val="bg2"/>
          </a:solidFill>
          <a:ln w="12700">
            <a:solidFill>
              <a:schemeClr val="bg2"/>
            </a:solidFill>
            <a:prstDash val="solid"/>
          </a:ln>
        </p:spPr>
      </p:sp>
      <p:sp>
        <p:nvSpPr>
          <p:cNvPr id="4" name="icone-getClientDetails-cercle"/>
          <p:cNvSpPr/>
          <p:nvPr/>
        </p:nvSpPr>
        <p:spPr>
          <a:xfrm>
            <a:off x="640080" y="1371600"/>
            <a:ext cx="502920" cy="502920"/>
          </a:xfrm>
          <a:prstGeom prst="ellipse">
            <a:avLst/>
          </a:prstGeom>
          <a:solidFill>
            <a:srgbClr val="0F766E"/>
          </a:solidFill>
          <a:ln w="12700">
            <a:solidFill>
              <a:srgbClr val="0F766E"/>
            </a:solidFill>
            <a:prstDash val="solid"/>
          </a:ln>
        </p:spPr>
      </p:sp>
      <p:pic>
        <p:nvPicPr>
          <p:cNvPr id="5" name="icone-getClientDetails" descr="icone-getClientDetails">    </p:cNvPr>
          <p:cNvPicPr>
            <a:picLocks noChangeAspect="1"/>
          </p:cNvPicPr>
          <p:nvPr/>
        </p:nvPicPr>
        <p:blipFill>
          <a:blip r:embed="rId1"/>
          <a:stretch>
            <a:fillRect/>
          </a:stretch>
        </p:blipFill>
        <p:spPr>
          <a:xfrm>
            <a:off x="765810" y="1497330"/>
            <a:ext cx="251460" cy="251460"/>
          </a:xfrm>
          <a:prstGeom prst="rect">
            <a:avLst/>
          </a:prstGeom>
        </p:spPr>
      </p:pic>
      <p:sp>
        <p:nvSpPr>
          <p:cNvPr id="6" name="Text 3"/>
          <p:cNvSpPr txBox="1"/>
          <p:nvPr/>
        </p:nvSpPr>
        <p:spPr>
          <a:xfrm>
            <a:off x="64008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getClientDetails</a:t>
            </a:r>
            <a:endParaRPr lang="en-US" sz="1600" dirty="0"/>
          </a:p>
        </p:txBody>
      </p:sp>
      <p:sp>
        <p:nvSpPr>
          <p:cNvPr id="7" name="Text 4"/>
          <p:cNvSpPr txBox="1"/>
          <p:nvPr/>
        </p:nvSpPr>
        <p:spPr>
          <a:xfrm>
            <a:off x="64008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Un client par son code</a:t>
            </a:r>
            <a:endParaRPr lang="en-US" sz="1300" dirty="0"/>
          </a:p>
        </p:txBody>
      </p:sp>
      <p:sp>
        <p:nvSpPr>
          <p:cNvPr id="8" name="Text 5"/>
          <p:cNvSpPr txBox="1"/>
          <p:nvPr/>
        </p:nvSpPr>
        <p:spPr>
          <a:xfrm>
            <a:off x="64008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entrée : codeClient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sortie : client</a:t>
            </a:r>
            <a:endParaRPr lang="en-US" sz="1200" dirty="0"/>
          </a:p>
        </p:txBody>
      </p:sp>
      <p:sp>
        <p:nvSpPr>
          <p:cNvPr id="9" name="carte-operation-searchClients"/>
          <p:cNvSpPr/>
          <p:nvPr/>
        </p:nvSpPr>
        <p:spPr>
          <a:xfrm>
            <a:off x="3291840" y="1188720"/>
            <a:ext cx="2560320" cy="2331720"/>
          </a:xfrm>
          <a:prstGeom prst="roundRect">
            <a:avLst>
              <a:gd name="adj" fmla="val 3922"/>
            </a:avLst>
          </a:prstGeom>
          <a:solidFill>
            <a:schemeClr val="bg2"/>
          </a:solidFill>
          <a:ln w="12700">
            <a:solidFill>
              <a:schemeClr val="bg2"/>
            </a:solidFill>
            <a:prstDash val="solid"/>
          </a:ln>
        </p:spPr>
      </p:sp>
      <p:sp>
        <p:nvSpPr>
          <p:cNvPr id="10" name="icone-searchClients-cercle"/>
          <p:cNvSpPr/>
          <p:nvPr/>
        </p:nvSpPr>
        <p:spPr>
          <a:xfrm>
            <a:off x="3474720" y="1371600"/>
            <a:ext cx="502920" cy="502920"/>
          </a:xfrm>
          <a:prstGeom prst="ellipse">
            <a:avLst/>
          </a:prstGeom>
          <a:solidFill>
            <a:srgbClr val="2563EB"/>
          </a:solidFill>
          <a:ln w="12700">
            <a:solidFill>
              <a:srgbClr val="2563EB"/>
            </a:solidFill>
            <a:prstDash val="solid"/>
          </a:ln>
        </p:spPr>
      </p:sp>
      <p:pic>
        <p:nvPicPr>
          <p:cNvPr id="11" name="icone-searchClients" descr="icone-searchClients">    </p:cNvPr>
          <p:cNvPicPr>
            <a:picLocks noChangeAspect="1"/>
          </p:cNvPicPr>
          <p:nvPr/>
        </p:nvPicPr>
        <p:blipFill>
          <a:blip r:embed="rId2"/>
          <a:stretch>
            <a:fillRect/>
          </a:stretch>
        </p:blipFill>
        <p:spPr>
          <a:xfrm>
            <a:off x="3600450" y="1497330"/>
            <a:ext cx="251460" cy="251460"/>
          </a:xfrm>
          <a:prstGeom prst="rect">
            <a:avLst/>
          </a:prstGeom>
        </p:spPr>
      </p:pic>
      <p:sp>
        <p:nvSpPr>
          <p:cNvPr id="12" name="Text 8"/>
          <p:cNvSpPr txBox="1"/>
          <p:nvPr/>
        </p:nvSpPr>
        <p:spPr>
          <a:xfrm>
            <a:off x="347472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searchClients</a:t>
            </a:r>
            <a:endParaRPr lang="en-US" sz="1600" dirty="0"/>
          </a:p>
        </p:txBody>
      </p:sp>
      <p:sp>
        <p:nvSpPr>
          <p:cNvPr id="13" name="Text 9"/>
          <p:cNvSpPr txBox="1"/>
          <p:nvPr/>
        </p:nvSpPr>
        <p:spPr>
          <a:xfrm>
            <a:off x="347472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Recherche paginée</a:t>
            </a:r>
            <a:endParaRPr lang="en-US" sz="1300" dirty="0"/>
          </a:p>
        </p:txBody>
      </p:sp>
      <p:sp>
        <p:nvSpPr>
          <p:cNvPr id="14" name="Text 10"/>
          <p:cNvSpPr txBox="1"/>
          <p:nvPr/>
        </p:nvSpPr>
        <p:spPr>
          <a:xfrm>
            <a:off x="347472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nom, ville, statut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page, taillePage (≤ 100)</a:t>
            </a:r>
            <a:endParaRPr lang="en-US" sz="1200" dirty="0"/>
          </a:p>
        </p:txBody>
      </p:sp>
      <p:sp>
        <p:nvSpPr>
          <p:cNvPr id="15" name="carte-operation-updateClient"/>
          <p:cNvSpPr/>
          <p:nvPr/>
        </p:nvSpPr>
        <p:spPr>
          <a:xfrm>
            <a:off x="6126480" y="1188720"/>
            <a:ext cx="2560320" cy="2331720"/>
          </a:xfrm>
          <a:prstGeom prst="roundRect">
            <a:avLst>
              <a:gd name="adj" fmla="val 3922"/>
            </a:avLst>
          </a:prstGeom>
          <a:solidFill>
            <a:schemeClr val="bg2"/>
          </a:solidFill>
          <a:ln w="12700">
            <a:solidFill>
              <a:schemeClr val="bg2"/>
            </a:solidFill>
            <a:prstDash val="solid"/>
          </a:ln>
        </p:spPr>
      </p:sp>
      <p:sp>
        <p:nvSpPr>
          <p:cNvPr id="16" name="icone-updateClient-cercle"/>
          <p:cNvSpPr/>
          <p:nvPr/>
        </p:nvSpPr>
        <p:spPr>
          <a:xfrm>
            <a:off x="6309360" y="1371600"/>
            <a:ext cx="502920" cy="502920"/>
          </a:xfrm>
          <a:prstGeom prst="ellipse">
            <a:avLst/>
          </a:prstGeom>
          <a:solidFill>
            <a:srgbClr val="C2410C"/>
          </a:solidFill>
          <a:ln w="12700">
            <a:solidFill>
              <a:srgbClr val="C2410C"/>
            </a:solidFill>
            <a:prstDash val="solid"/>
          </a:ln>
        </p:spPr>
      </p:sp>
      <p:pic>
        <p:nvPicPr>
          <p:cNvPr id="17" name="icone-updateClient" descr="icone-updateClient">    </p:cNvPr>
          <p:cNvPicPr>
            <a:picLocks noChangeAspect="1"/>
          </p:cNvPicPr>
          <p:nvPr/>
        </p:nvPicPr>
        <p:blipFill>
          <a:blip r:embed="rId3"/>
          <a:stretch>
            <a:fillRect/>
          </a:stretch>
        </p:blipFill>
        <p:spPr>
          <a:xfrm>
            <a:off x="6435090" y="1497330"/>
            <a:ext cx="251460" cy="251460"/>
          </a:xfrm>
          <a:prstGeom prst="rect">
            <a:avLst/>
          </a:prstGeom>
        </p:spPr>
      </p:pic>
      <p:sp>
        <p:nvSpPr>
          <p:cNvPr id="18" name="Text 13"/>
          <p:cNvSpPr txBox="1"/>
          <p:nvPr/>
        </p:nvSpPr>
        <p:spPr>
          <a:xfrm>
            <a:off x="630936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updateClient</a:t>
            </a:r>
            <a:endParaRPr lang="en-US" sz="1600" dirty="0"/>
          </a:p>
        </p:txBody>
      </p:sp>
      <p:sp>
        <p:nvSpPr>
          <p:cNvPr id="19" name="Text 14"/>
          <p:cNvSpPr txBox="1"/>
          <p:nvPr/>
        </p:nvSpPr>
        <p:spPr>
          <a:xfrm>
            <a:off x="630936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Modification dans MongoDB</a:t>
            </a:r>
            <a:endParaRPr lang="en-US" sz="1300" dirty="0"/>
          </a:p>
        </p:txBody>
      </p:sp>
      <p:sp>
        <p:nvSpPr>
          <p:cNvPr id="20" name="Text 15"/>
          <p:cNvSpPr txBox="1"/>
          <p:nvPr/>
        </p:nvSpPr>
        <p:spPr>
          <a:xfrm>
            <a:off x="630936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champs partiels</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verrou optimiste (version)</a:t>
            </a:r>
            <a:endParaRPr lang="en-US" sz="1200" dirty="0"/>
          </a:p>
        </p:txBody>
      </p:sp>
      <p:sp>
        <p:nvSpPr>
          <p:cNvPr id="21" name="Text 16"/>
          <p:cNvSpPr txBox="1"/>
          <p:nvPr/>
        </p:nvSpPr>
        <p:spPr>
          <a:xfrm>
            <a:off x="457200" y="3749040"/>
            <a:ext cx="8229600" cy="5943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WSDL 1.1 · document/literal · SOAP 1.1</a:t>
            </a:r>
            <a:endParaRPr lang="en-US" sz="1400" dirty="0"/>
          </a:p>
          <a:p>
            <a:pPr indent="0" marL="0">
              <a:buNone/>
            </a:pPr>
            <a:r>
              <a:rPr lang="en-US" sz="1400" b="1" dirty="0">
                <a:solidFill>
                  <a:schemeClr val="tx2"/>
                </a:solidFill>
                <a:latin typeface="Calibri" pitchFamily="34" charset="0"/>
                <a:ea typeface="Calibri" pitchFamily="34" charset="-122"/>
                <a:cs typeface="Calibri" pitchFamily="34" charset="-120"/>
              </a:rPr>
              <a:t>23 tests SOAP sur pile Docker réelle · requêtes SoapUI fournies</a:t>
            </a:r>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Validation et erreurs SOAP</a:t>
            </a:r>
            <a:endParaRPr lang="en-US" sz="3000" dirty="0"/>
          </a:p>
        </p:txBody>
      </p:sp>
      <p:graphicFrame>
        <p:nvGraphicFramePr>
          <p:cNvPr id="9" name="tableau-fault"/>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1005840"/>
                <a:gridCol w="457200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Code (detail/ClientFault)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faultcode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Quand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VALIDATION_ERROR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Paramètre absent, mal formé, hors limites (champ indiqué)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CLIENT_NOT_FOUND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Aucun client avec ce 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EMAIL_ALREADY_USED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déjà porté par un autre 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VERSION_CONFLICT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Version obsolète ou écriture concurrente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SERVICE_UNAVAILABLE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MongoDB injoignable (délai 2 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INTERNAL_ERROR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Erreur inattendue, détail réservé aux logs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4" name="Text 1"/>
          <p:cNvSpPr txBox="1"/>
          <p:nvPr/>
        </p:nvSpPr>
        <p:spPr>
          <a:xfrm>
            <a:off x="457200" y="397764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Fault : HTTP 500. Détail métier typé par le WSDL ; une erreur d’enveloppe peut ne pas avoir de détail métier.</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Réconciliation vers MySQL</a:t>
            </a:r>
            <a:endParaRPr lang="en-US" sz="3000" dirty="0"/>
          </a:p>
        </p:txBody>
      </p:sp>
      <p:sp>
        <p:nvSpPr>
          <p:cNvPr id="3" name="etape-reconciliation-1"/>
          <p:cNvSpPr/>
          <p:nvPr/>
        </p:nvSpPr>
        <p:spPr>
          <a:xfrm>
            <a:off x="457200" y="1188720"/>
            <a:ext cx="1920240" cy="1554480"/>
          </a:xfrm>
          <a:prstGeom prst="roundRect">
            <a:avLst>
              <a:gd name="adj" fmla="val 5882"/>
            </a:avLst>
          </a:prstGeom>
          <a:solidFill>
            <a:schemeClr val="bg2"/>
          </a:solidFill>
          <a:ln w="12700">
            <a:solidFill>
              <a:schemeClr val="bg2"/>
            </a:solidFill>
            <a:prstDash val="solid"/>
          </a:ln>
        </p:spPr>
      </p:sp>
      <p:sp>
        <p:nvSpPr>
          <p:cNvPr id="4" name="numero-1"/>
          <p:cNvSpPr/>
          <p:nvPr/>
        </p:nvSpPr>
        <p:spPr>
          <a:xfrm>
            <a:off x="594360" y="1325880"/>
            <a:ext cx="411480" cy="411480"/>
          </a:xfrm>
          <a:prstGeom prst="ellipse">
            <a:avLst/>
          </a:prstGeom>
          <a:solidFill>
            <a:schemeClr val="accent1"/>
          </a:solidFill>
          <a:ln w="12700">
            <a:solidFill>
              <a:schemeClr val="accent1"/>
            </a:solidFill>
            <a:prstDash val="solid"/>
          </a:ln>
        </p:spPr>
      </p:sp>
      <p:sp>
        <p:nvSpPr>
          <p:cNvPr id="5" name="Text 3"/>
          <p:cNvSpPr txBox="1"/>
          <p:nvPr/>
        </p:nvSpPr>
        <p:spPr>
          <a:xfrm>
            <a:off x="59436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updateClient</a:t>
            </a:r>
            <a:endParaRPr lang="en-US" sz="1400" dirty="0"/>
          </a:p>
        </p:txBody>
      </p:sp>
      <p:sp>
        <p:nvSpPr>
          <p:cNvPr id="7" name="Text 5"/>
          <p:cNvSpPr txBox="1"/>
          <p:nvPr/>
        </p:nvSpPr>
        <p:spPr>
          <a:xfrm>
            <a:off x="59436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Mongo : version + 1</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pending_mysql</a:t>
            </a:r>
            <a:endParaRPr lang="en-US" sz="1200" dirty="0"/>
          </a:p>
        </p:txBody>
      </p:sp>
      <p:sp>
        <p:nvSpPr>
          <p:cNvPr id="8" name="etape-reconciliation-2"/>
          <p:cNvSpPr/>
          <p:nvPr/>
        </p:nvSpPr>
        <p:spPr>
          <a:xfrm>
            <a:off x="2560320" y="1188720"/>
            <a:ext cx="1920240" cy="1554480"/>
          </a:xfrm>
          <a:prstGeom prst="roundRect">
            <a:avLst>
              <a:gd name="adj" fmla="val 5882"/>
            </a:avLst>
          </a:prstGeom>
          <a:solidFill>
            <a:schemeClr val="bg2"/>
          </a:solidFill>
          <a:ln w="12700">
            <a:solidFill>
              <a:schemeClr val="bg2"/>
            </a:solidFill>
            <a:prstDash val="solid"/>
          </a:ln>
        </p:spPr>
      </p:sp>
      <p:sp>
        <p:nvSpPr>
          <p:cNvPr id="9" name="numero-2"/>
          <p:cNvSpPr/>
          <p:nvPr/>
        </p:nvSpPr>
        <p:spPr>
          <a:xfrm>
            <a:off x="2697480" y="1325880"/>
            <a:ext cx="411480" cy="411480"/>
          </a:xfrm>
          <a:prstGeom prst="ellipse">
            <a:avLst/>
          </a:prstGeom>
          <a:solidFill>
            <a:schemeClr val="accent1"/>
          </a:solidFill>
          <a:ln w="12700">
            <a:solidFill>
              <a:schemeClr val="accent1"/>
            </a:solidFill>
            <a:prstDash val="solid"/>
          </a:ln>
        </p:spPr>
      </p:sp>
      <p:sp>
        <p:nvSpPr>
          <p:cNvPr id="10" name="Text 8"/>
          <p:cNvSpPr txBox="1"/>
          <p:nvPr/>
        </p:nvSpPr>
        <p:spPr>
          <a:xfrm>
            <a:off x="26974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320040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1 passe</a:t>
            </a:r>
            <a:endParaRPr lang="en-US" sz="1400" dirty="0"/>
          </a:p>
        </p:txBody>
      </p:sp>
      <p:sp>
        <p:nvSpPr>
          <p:cNvPr id="12" name="Text 10"/>
          <p:cNvSpPr txBox="1"/>
          <p:nvPr/>
        </p:nvSpPr>
        <p:spPr>
          <a:xfrm>
            <a:off x="269748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ignore les fiches SOAP</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même après réconciliation</a:t>
            </a:r>
          </a:p>
        </p:txBody>
      </p:sp>
      <p:sp>
        <p:nvSpPr>
          <p:cNvPr id="13" name="etape-reconciliation-3"/>
          <p:cNvSpPr/>
          <p:nvPr/>
        </p:nvSpPr>
        <p:spPr>
          <a:xfrm>
            <a:off x="4663440" y="1188720"/>
            <a:ext cx="1920240" cy="1554480"/>
          </a:xfrm>
          <a:prstGeom prst="roundRect">
            <a:avLst>
              <a:gd name="adj" fmla="val 5882"/>
            </a:avLst>
          </a:prstGeom>
          <a:solidFill>
            <a:schemeClr val="bg2"/>
          </a:solidFill>
          <a:ln w="12700">
            <a:solidFill>
              <a:schemeClr val="bg2"/>
            </a:solidFill>
            <a:prstDash val="solid"/>
          </a:ln>
        </p:spPr>
      </p:sp>
      <p:sp>
        <p:nvSpPr>
          <p:cNvPr id="14" name="numero-3"/>
          <p:cNvSpPr/>
          <p:nvPr/>
        </p:nvSpPr>
        <p:spPr>
          <a:xfrm>
            <a:off x="4800600" y="1325880"/>
            <a:ext cx="411480" cy="411480"/>
          </a:xfrm>
          <a:prstGeom prst="ellipse">
            <a:avLst/>
          </a:prstGeom>
          <a:solidFill>
            <a:schemeClr val="accent1"/>
          </a:solidFill>
          <a:ln w="12700">
            <a:solidFill>
              <a:schemeClr val="accent1"/>
            </a:solidFill>
            <a:prstDash val="solid"/>
          </a:ln>
        </p:spPr>
      </p:sp>
      <p:sp>
        <p:nvSpPr>
          <p:cNvPr id="15" name="Text 13"/>
          <p:cNvSpPr txBox="1"/>
          <p:nvPr/>
        </p:nvSpPr>
        <p:spPr>
          <a:xfrm>
            <a:off x="480060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530352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2 applique</a:t>
            </a:r>
            <a:endParaRPr lang="en-US" sz="1400" dirty="0"/>
          </a:p>
        </p:txBody>
      </p:sp>
      <p:sp>
        <p:nvSpPr>
          <p:cNvPr id="17" name="Text 15"/>
          <p:cNvSpPr txBox="1"/>
          <p:nvPr/>
        </p:nvSpPr>
        <p:spPr>
          <a:xfrm>
            <a:off x="480060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UPDATE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détecte les conflits</a:t>
            </a:r>
            <a:endParaRPr lang="en-US" sz="1200" dirty="0"/>
          </a:p>
        </p:txBody>
      </p:sp>
      <p:sp>
        <p:nvSpPr>
          <p:cNvPr id="18" name="etape-reconciliation-4"/>
          <p:cNvSpPr/>
          <p:nvPr/>
        </p:nvSpPr>
        <p:spPr>
          <a:xfrm>
            <a:off x="6766560" y="1188720"/>
            <a:ext cx="1920240" cy="1554480"/>
          </a:xfrm>
          <a:prstGeom prst="roundRect">
            <a:avLst>
              <a:gd name="adj" fmla="val 5882"/>
            </a:avLst>
          </a:prstGeom>
          <a:solidFill>
            <a:schemeClr val="bg2"/>
          </a:solidFill>
          <a:ln w="12700">
            <a:solidFill>
              <a:schemeClr val="bg2"/>
            </a:solidFill>
            <a:prstDash val="solid"/>
          </a:ln>
        </p:spPr>
      </p:sp>
      <p:sp>
        <p:nvSpPr>
          <p:cNvPr id="19" name="numero-4"/>
          <p:cNvSpPr/>
          <p:nvPr/>
        </p:nvSpPr>
        <p:spPr>
          <a:xfrm>
            <a:off x="6903720" y="1325880"/>
            <a:ext cx="411480" cy="411480"/>
          </a:xfrm>
          <a:prstGeom prst="ellipse">
            <a:avLst/>
          </a:prstGeom>
          <a:solidFill>
            <a:schemeClr val="accent1"/>
          </a:solidFill>
          <a:ln w="12700">
            <a:solidFill>
              <a:schemeClr val="accent1"/>
            </a:solidFill>
            <a:prstDash val="solid"/>
          </a:ln>
        </p:spPr>
      </p:sp>
      <p:sp>
        <p:nvSpPr>
          <p:cNvPr id="20" name="Text 18"/>
          <p:cNvSpPr txBox="1"/>
          <p:nvPr/>
        </p:nvSpPr>
        <p:spPr>
          <a:xfrm>
            <a:off x="690372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40664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Acquittement</a:t>
            </a:r>
            <a:endParaRPr lang="en-US" sz="1400" dirty="0"/>
          </a:p>
        </p:txBody>
      </p:sp>
      <p:sp>
        <p:nvSpPr>
          <p:cNvPr id="22" name="Text 20"/>
          <p:cNvSpPr txBox="1"/>
          <p:nvPr/>
        </p:nvSpPr>
        <p:spPr>
          <a:xfrm>
            <a:off x="690372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synced, seulement si</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version inchangée</a:t>
            </a:r>
            <a:endParaRPr lang="en-US" sz="1200" dirty="0"/>
          </a:p>
        </p:txBody>
      </p:sp>
      <p:sp>
        <p:nvSpPr>
          <p:cNvPr id="23" name="encart-conflit"/>
          <p:cNvSpPr/>
          <p:nvPr/>
        </p:nvSpPr>
        <p:spPr>
          <a:xfrm>
            <a:off x="457200" y="3017520"/>
            <a:ext cx="8229600" cy="1234440"/>
          </a:xfrm>
          <a:prstGeom prst="roundRect">
            <a:avLst>
              <a:gd name="adj" fmla="val 7407"/>
            </a:avLst>
          </a:prstGeom>
          <a:solidFill>
            <a:schemeClr val="tx2"/>
          </a:solidFill>
          <a:ln w="12700">
            <a:solidFill>
              <a:schemeClr val="tx2"/>
            </a:solidFill>
            <a:prstDash val="solid"/>
          </a:ln>
        </p:spPr>
      </p:sp>
      <p:sp>
        <p:nvSpPr>
          <p:cNvPr id="24" name="Text 22"/>
          <p:cNvSpPr txBox="1"/>
          <p:nvPr/>
        </p:nvSpPr>
        <p:spPr>
          <a:xfrm>
            <a:off x="731520" y="3108960"/>
            <a:ext cx="7680960" cy="10515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Conflit : la ligne MySQL a changé entre-temps</a:t>
            </a:r>
            <a:endParaRPr lang="en-US" sz="1500" dirty="0"/>
          </a:p>
          <a:p>
            <a:pPr indent="0" marL="0">
              <a:buNone/>
            </a:pPr>
            <a:r>
              <a:rPr lang="en-US" sz="1300" dirty="0">
                <a:solidFill>
                  <a:schemeClr val="bg1"/>
                </a:solidFill>
                <a:latin typeface="Calibri" pitchFamily="34" charset="0"/>
                <a:ea typeface="Calibri" pitchFamily="34" charset="-122"/>
                <a:cs typeface="Calibri" pitchFamily="34" charset="-120"/>
              </a:rPr>
              <a:t>MongoDB l'emporte (référence). L'ancienne ligne MySQL est conservée dans reconciliation_log.mysql_overwritten.</a:t>
            </a:r>
            <a:endParaRPr lang="en-US" sz="1500" dirty="0"/>
          </a:p>
          <a:p>
            <a:pPr indent="0" marL="0">
              <a:buNone/>
            </a:pPr>
            <a:r>
              <a:rPr lang="en-US" sz="1300" dirty="0">
                <a:solidFill>
                  <a:schemeClr val="bg2"/>
                </a:solidFill>
                <a:latin typeface="Calibri" pitchFamily="34" charset="0"/>
                <a:ea typeface="Calibri" pitchFamily="34" charset="-122"/>
                <a:cs typeface="Calibri" pitchFamily="34" charset="-120"/>
              </a:rPr>
              <a:t>Un client en échec ne bloque pas les autres ; le DAG se termine en erreur pour alerter.</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Supervision Zabbix</a:t>
            </a:r>
            <a:endParaRPr lang="en-US" sz="3000" dirty="0"/>
          </a:p>
        </p:txBody>
      </p:sp>
      <p:sp>
        <p:nvSpPr>
          <p:cNvPr id="3" name="carte-alerte-1"/>
          <p:cNvSpPr/>
          <p:nvPr/>
        </p:nvSpPr>
        <p:spPr>
          <a:xfrm>
            <a:off x="457200" y="1188720"/>
            <a:ext cx="4023360" cy="621792"/>
          </a:xfrm>
          <a:prstGeom prst="roundRect">
            <a:avLst>
              <a:gd name="adj" fmla="val 11765"/>
            </a:avLst>
          </a:prstGeom>
          <a:solidFill>
            <a:schemeClr val="bg2"/>
          </a:solidFill>
          <a:ln w="12700">
            <a:solidFill>
              <a:schemeClr val="bg2"/>
            </a:solidFill>
            <a:prstDash val="solid"/>
          </a:ln>
        </p:spPr>
      </p:sp>
      <p:sp>
        <p:nvSpPr>
          <p:cNvPr id="4" name="pastille-1"/>
          <p:cNvSpPr/>
          <p:nvPr/>
        </p:nvSpPr>
        <p:spPr>
          <a:xfrm>
            <a:off x="621792" y="1380744"/>
            <a:ext cx="237744" cy="237744"/>
          </a:xfrm>
          <a:prstGeom prst="ellipse">
            <a:avLst/>
          </a:prstGeom>
          <a:solidFill>
            <a:schemeClr val="accent4"/>
          </a:solidFill>
          <a:ln w="12700">
            <a:solidFill>
              <a:schemeClr val="accent4"/>
            </a:solidFill>
            <a:prstDash val="solid"/>
          </a:ln>
        </p:spPr>
      </p:sp>
      <p:sp>
        <p:nvSpPr>
          <p:cNvPr id="5" name="Text 3"/>
          <p:cNvSpPr txBox="1"/>
          <p:nvPr/>
        </p:nvSpPr>
        <p:spPr>
          <a:xfrm>
            <a:off x="100584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MongoDB joignable</a:t>
            </a:r>
            <a:endParaRPr lang="en-US" sz="1300" dirty="0"/>
          </a:p>
        </p:txBody>
      </p:sp>
      <p:sp>
        <p:nvSpPr>
          <p:cNvPr id="6" name="Text 4"/>
          <p:cNvSpPr txBox="1"/>
          <p:nvPr/>
        </p:nvSpPr>
        <p:spPr>
          <a:xfrm>
            <a:off x="292608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si 0</a:t>
            </a:r>
            <a:endParaRPr lang="en-US" sz="1200" dirty="0"/>
          </a:p>
        </p:txBody>
      </p:sp>
      <p:sp>
        <p:nvSpPr>
          <p:cNvPr id="7" name="carte-alerte-2"/>
          <p:cNvSpPr/>
          <p:nvPr/>
        </p:nvSpPr>
        <p:spPr>
          <a:xfrm>
            <a:off x="4663440" y="1188720"/>
            <a:ext cx="4023360" cy="621792"/>
          </a:xfrm>
          <a:prstGeom prst="roundRect">
            <a:avLst>
              <a:gd name="adj" fmla="val 11765"/>
            </a:avLst>
          </a:prstGeom>
          <a:solidFill>
            <a:schemeClr val="bg2"/>
          </a:solidFill>
          <a:ln w="12700">
            <a:solidFill>
              <a:schemeClr val="bg2"/>
            </a:solidFill>
            <a:prstDash val="solid"/>
          </a:ln>
        </p:spPr>
      </p:sp>
      <p:sp>
        <p:nvSpPr>
          <p:cNvPr id="8" name="pastille-2"/>
          <p:cNvSpPr/>
          <p:nvPr/>
        </p:nvSpPr>
        <p:spPr>
          <a:xfrm>
            <a:off x="4828032" y="1380744"/>
            <a:ext cx="237744" cy="237744"/>
          </a:xfrm>
          <a:prstGeom prst="ellipse">
            <a:avLst/>
          </a:prstGeom>
          <a:solidFill>
            <a:schemeClr val="accent4"/>
          </a:solidFill>
          <a:ln w="12700">
            <a:solidFill>
              <a:schemeClr val="accent4"/>
            </a:solidFill>
            <a:prstDash val="solid"/>
          </a:ln>
        </p:spPr>
      </p:sp>
      <p:sp>
        <p:nvSpPr>
          <p:cNvPr id="9" name="Text 7"/>
          <p:cNvSpPr txBox="1"/>
          <p:nvPr/>
        </p:nvSpPr>
        <p:spPr>
          <a:xfrm>
            <a:off x="521208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Service SOAP injoignable</a:t>
            </a:r>
            <a:endParaRPr lang="en-US" sz="1300" dirty="0"/>
          </a:p>
        </p:txBody>
      </p:sp>
      <p:sp>
        <p:nvSpPr>
          <p:cNvPr id="10" name="Text 8"/>
          <p:cNvSpPr txBox="1"/>
          <p:nvPr/>
        </p:nvSpPr>
        <p:spPr>
          <a:xfrm>
            <a:off x="713232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après 2 min</a:t>
            </a:r>
            <a:endParaRPr lang="en-US" sz="1200" dirty="0"/>
          </a:p>
        </p:txBody>
      </p:sp>
      <p:sp>
        <p:nvSpPr>
          <p:cNvPr id="11" name="carte-alerte-3"/>
          <p:cNvSpPr/>
          <p:nvPr/>
        </p:nvSpPr>
        <p:spPr>
          <a:xfrm>
            <a:off x="457200" y="1938528"/>
            <a:ext cx="4023360" cy="621792"/>
          </a:xfrm>
          <a:prstGeom prst="roundRect">
            <a:avLst>
              <a:gd name="adj" fmla="val 11765"/>
            </a:avLst>
          </a:prstGeom>
          <a:solidFill>
            <a:schemeClr val="bg2"/>
          </a:solidFill>
          <a:ln w="12700">
            <a:solidFill>
              <a:schemeClr val="bg2"/>
            </a:solidFill>
            <a:prstDash val="solid"/>
          </a:ln>
        </p:spPr>
      </p:sp>
      <p:sp>
        <p:nvSpPr>
          <p:cNvPr id="12" name="pastille-3"/>
          <p:cNvSpPr/>
          <p:nvPr/>
        </p:nvSpPr>
        <p:spPr>
          <a:xfrm>
            <a:off x="621792" y="2130552"/>
            <a:ext cx="237744" cy="237744"/>
          </a:xfrm>
          <a:prstGeom prst="ellipse">
            <a:avLst/>
          </a:prstGeom>
          <a:solidFill>
            <a:schemeClr val="accent2"/>
          </a:solidFill>
          <a:ln w="12700">
            <a:solidFill>
              <a:schemeClr val="accent2"/>
            </a:solidFill>
            <a:prstDash val="solid"/>
          </a:ln>
        </p:spPr>
      </p:sp>
      <p:sp>
        <p:nvSpPr>
          <p:cNvPr id="13" name="Text 11"/>
          <p:cNvSpPr txBox="1"/>
          <p:nvPr/>
        </p:nvSpPr>
        <p:spPr>
          <a:xfrm>
            <a:off x="100584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Fautes serveur (5 min)</a:t>
            </a:r>
            <a:endParaRPr lang="en-US" sz="1300" dirty="0"/>
          </a:p>
        </p:txBody>
      </p:sp>
      <p:sp>
        <p:nvSpPr>
          <p:cNvPr id="14" name="Text 12"/>
          <p:cNvSpPr txBox="1"/>
          <p:nvPr/>
        </p:nvSpPr>
        <p:spPr>
          <a:xfrm>
            <a:off x="292608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AVERAGE si ≥ 3</a:t>
            </a:r>
            <a:endParaRPr lang="en-US" sz="1200" dirty="0"/>
          </a:p>
        </p:txBody>
      </p:sp>
      <p:sp>
        <p:nvSpPr>
          <p:cNvPr id="15" name="carte-alerte-4"/>
          <p:cNvSpPr/>
          <p:nvPr/>
        </p:nvSpPr>
        <p:spPr>
          <a:xfrm>
            <a:off x="4663440" y="1938528"/>
            <a:ext cx="4023360" cy="621792"/>
          </a:xfrm>
          <a:prstGeom prst="roundRect">
            <a:avLst>
              <a:gd name="adj" fmla="val 11765"/>
            </a:avLst>
          </a:prstGeom>
          <a:solidFill>
            <a:schemeClr val="bg2"/>
          </a:solidFill>
          <a:ln w="12700">
            <a:solidFill>
              <a:schemeClr val="bg2"/>
            </a:solidFill>
            <a:prstDash val="solid"/>
          </a:ln>
        </p:spPr>
      </p:sp>
      <p:sp>
        <p:nvSpPr>
          <p:cNvPr id="16" name="pastille-4"/>
          <p:cNvSpPr/>
          <p:nvPr/>
        </p:nvSpPr>
        <p:spPr>
          <a:xfrm>
            <a:off x="4828032" y="2130552"/>
            <a:ext cx="237744" cy="237744"/>
          </a:xfrm>
          <a:prstGeom prst="ellipse">
            <a:avLst/>
          </a:prstGeom>
          <a:solidFill>
            <a:schemeClr val="accent2"/>
          </a:solidFill>
          <a:ln w="12700">
            <a:solidFill>
              <a:schemeClr val="accent2"/>
            </a:solidFill>
            <a:prstDash val="solid"/>
          </a:ln>
        </p:spPr>
      </p:sp>
      <p:sp>
        <p:nvSpPr>
          <p:cNvPr id="17" name="Text 15"/>
          <p:cNvSpPr txBox="1"/>
          <p:nvPr/>
        </p:nvSpPr>
        <p:spPr>
          <a:xfrm>
            <a:off x="521208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Latence moyenne</a:t>
            </a:r>
            <a:endParaRPr lang="en-US" sz="1300" dirty="0"/>
          </a:p>
        </p:txBody>
      </p:sp>
      <p:sp>
        <p:nvSpPr>
          <p:cNvPr id="18" name="Text 16"/>
          <p:cNvSpPr txBox="1"/>
          <p:nvPr/>
        </p:nvSpPr>
        <p:spPr>
          <a:xfrm>
            <a:off x="713232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500 ms</a:t>
            </a:r>
            <a:endParaRPr lang="en-US" sz="1200" dirty="0"/>
          </a:p>
        </p:txBody>
      </p:sp>
      <p:sp>
        <p:nvSpPr>
          <p:cNvPr id="19" name="carte-alerte-5"/>
          <p:cNvSpPr/>
          <p:nvPr/>
        </p:nvSpPr>
        <p:spPr>
          <a:xfrm>
            <a:off x="457200" y="2688336"/>
            <a:ext cx="4023360" cy="621792"/>
          </a:xfrm>
          <a:prstGeom prst="roundRect">
            <a:avLst>
              <a:gd name="adj" fmla="val 11765"/>
            </a:avLst>
          </a:prstGeom>
          <a:solidFill>
            <a:schemeClr val="bg2"/>
          </a:solidFill>
          <a:ln w="12700">
            <a:solidFill>
              <a:schemeClr val="bg2"/>
            </a:solidFill>
            <a:prstDash val="solid"/>
          </a:ln>
        </p:spPr>
      </p:sp>
      <p:sp>
        <p:nvSpPr>
          <p:cNvPr id="20" name="pastille-5"/>
          <p:cNvSpPr/>
          <p:nvPr/>
        </p:nvSpPr>
        <p:spPr>
          <a:xfrm>
            <a:off x="621792" y="2880360"/>
            <a:ext cx="237744" cy="237744"/>
          </a:xfrm>
          <a:prstGeom prst="ellipse">
            <a:avLst/>
          </a:prstGeom>
          <a:solidFill>
            <a:schemeClr val="accent2"/>
          </a:solidFill>
          <a:ln w="12700">
            <a:solidFill>
              <a:schemeClr val="accent2"/>
            </a:solidFill>
            <a:prstDash val="solid"/>
          </a:ln>
        </p:spPr>
      </p:sp>
      <p:sp>
        <p:nvSpPr>
          <p:cNvPr id="21" name="Text 19"/>
          <p:cNvSpPr txBox="1"/>
          <p:nvPr/>
        </p:nvSpPr>
        <p:spPr>
          <a:xfrm>
            <a:off x="100584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Retard de réconciliation</a:t>
            </a:r>
            <a:endParaRPr lang="en-US" sz="1300" dirty="0"/>
          </a:p>
        </p:txBody>
      </p:sp>
      <p:sp>
        <p:nvSpPr>
          <p:cNvPr id="22" name="Text 20"/>
          <p:cNvSpPr txBox="1"/>
          <p:nvPr/>
        </p:nvSpPr>
        <p:spPr>
          <a:xfrm>
            <a:off x="292608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 clients</a:t>
            </a:r>
            <a:endParaRPr lang="en-US" sz="1200" dirty="0"/>
          </a:p>
        </p:txBody>
      </p:sp>
      <p:sp>
        <p:nvSpPr>
          <p:cNvPr id="23" name="carte-alerte-6"/>
          <p:cNvSpPr/>
          <p:nvPr/>
        </p:nvSpPr>
        <p:spPr>
          <a:xfrm>
            <a:off x="4663440" y="2688336"/>
            <a:ext cx="4023360" cy="621792"/>
          </a:xfrm>
          <a:prstGeom prst="roundRect">
            <a:avLst>
              <a:gd name="adj" fmla="val 11765"/>
            </a:avLst>
          </a:prstGeom>
          <a:solidFill>
            <a:schemeClr val="bg2"/>
          </a:solidFill>
          <a:ln w="12700">
            <a:solidFill>
              <a:schemeClr val="bg2"/>
            </a:solidFill>
            <a:prstDash val="solid"/>
          </a:ln>
        </p:spPr>
      </p:sp>
      <p:sp>
        <p:nvSpPr>
          <p:cNvPr id="24" name="pastille-6"/>
          <p:cNvSpPr/>
          <p:nvPr/>
        </p:nvSpPr>
        <p:spPr>
          <a:xfrm>
            <a:off x="4828032" y="2880360"/>
            <a:ext cx="237744" cy="237744"/>
          </a:xfrm>
          <a:prstGeom prst="ellipse">
            <a:avLst/>
          </a:prstGeom>
          <a:solidFill>
            <a:schemeClr val="accent2"/>
          </a:solidFill>
          <a:ln w="12700">
            <a:solidFill>
              <a:schemeClr val="accent2"/>
            </a:solidFill>
            <a:prstDash val="solid"/>
          </a:ln>
        </p:spPr>
      </p:sp>
      <p:sp>
        <p:nvSpPr>
          <p:cNvPr id="25" name="Text 23"/>
          <p:cNvSpPr txBox="1"/>
          <p:nvPr/>
        </p:nvSpPr>
        <p:spPr>
          <a:xfrm>
            <a:off x="521208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Âge du dernier ETL</a:t>
            </a:r>
            <a:endParaRPr lang="en-US" sz="1300" dirty="0"/>
          </a:p>
        </p:txBody>
      </p:sp>
      <p:sp>
        <p:nvSpPr>
          <p:cNvPr id="26" name="Text 24"/>
          <p:cNvSpPr txBox="1"/>
          <p:nvPr/>
        </p:nvSpPr>
        <p:spPr>
          <a:xfrm>
            <a:off x="713232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2 h</a:t>
            </a:r>
            <a:endParaRPr lang="en-US" sz="1200" dirty="0"/>
          </a:p>
        </p:txBody>
      </p:sp>
      <p:sp>
        <p:nvSpPr>
          <p:cNvPr id="27" name="Text 25"/>
          <p:cNvSpPr txBox="1"/>
          <p:nvPr/>
        </p:nvSpPr>
        <p:spPr>
          <a:xfrm>
            <a:off x="457200" y="3749040"/>
            <a:ext cx="8229600" cy="64008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14 éléments, 8 déclencheurs, 2 graphiques. WSDL, appel SOAP et panne MongoDB testés sur Zabbix 7.0.32.</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Tests et résultats</a:t>
            </a:r>
            <a:endParaRPr lang="en-US" sz="3000" dirty="0"/>
          </a:p>
        </p:txBody>
      </p:sp>
      <p:graphicFrame>
        <p:nvGraphicFramePr>
          <p:cNvPr id="3" name="Chart 0" descr=""/>
          <p:cNvGraphicFramePr/>
          <p:nvPr/>
        </p:nvGraphicFramePr>
        <p:xfrm>
          <a:off x="365760" y="109728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carte-resultat-1"/>
          <p:cNvSpPr/>
          <p:nvPr/>
        </p:nvSpPr>
        <p:spPr>
          <a:xfrm>
            <a:off x="5486400" y="1188720"/>
            <a:ext cx="3200400" cy="896112"/>
          </a:xfrm>
          <a:prstGeom prst="roundRect">
            <a:avLst>
              <a:gd name="adj" fmla="val 8163"/>
            </a:avLst>
          </a:prstGeom>
          <a:solidFill>
            <a:schemeClr val="bg2"/>
          </a:solidFill>
          <a:ln w="12700">
            <a:solidFill>
              <a:schemeClr val="bg2"/>
            </a:solidFill>
            <a:prstDash val="solid"/>
          </a:ln>
        </p:spPr>
      </p:sp>
      <p:sp>
        <p:nvSpPr>
          <p:cNvPr id="5" name="Text 2"/>
          <p:cNvSpPr txBox="1"/>
          <p:nvPr/>
        </p:nvSpPr>
        <p:spPr>
          <a:xfrm>
            <a:off x="5623560" y="118872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23 / 23</a:t>
            </a:r>
            <a:endParaRPr lang="en-US" sz="2400" dirty="0"/>
          </a:p>
        </p:txBody>
      </p:sp>
      <p:sp>
        <p:nvSpPr>
          <p:cNvPr id="6" name="Text 3"/>
          <p:cNvSpPr txBox="1"/>
          <p:nvPr/>
        </p:nvSpPr>
        <p:spPr>
          <a:xfrm>
            <a:off x="6949440" y="118872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SOAP sur pile Docker réelle</a:t>
            </a:r>
            <a:endParaRPr lang="en-US" sz="1200" dirty="0"/>
          </a:p>
        </p:txBody>
      </p:sp>
      <p:sp>
        <p:nvSpPr>
          <p:cNvPr id="7" name="carte-resultat-2"/>
          <p:cNvSpPr/>
          <p:nvPr/>
        </p:nvSpPr>
        <p:spPr>
          <a:xfrm>
            <a:off x="5486400" y="2240280"/>
            <a:ext cx="3200400" cy="896112"/>
          </a:xfrm>
          <a:prstGeom prst="roundRect">
            <a:avLst>
              <a:gd name="adj" fmla="val 8163"/>
            </a:avLst>
          </a:prstGeom>
          <a:solidFill>
            <a:schemeClr val="bg2"/>
          </a:solidFill>
          <a:ln w="12700">
            <a:solidFill>
              <a:schemeClr val="bg2"/>
            </a:solidFill>
            <a:prstDash val="solid"/>
          </a:ln>
        </p:spPr>
      </p:sp>
      <p:sp>
        <p:nvSpPr>
          <p:cNvPr id="8" name="Text 5"/>
          <p:cNvSpPr txBox="1"/>
          <p:nvPr/>
        </p:nvSpPr>
        <p:spPr>
          <a:xfrm>
            <a:off x="5623560" y="224028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33 / 33</a:t>
            </a:r>
            <a:endParaRPr lang="en-US" sz="2400" dirty="0"/>
          </a:p>
        </p:txBody>
      </p:sp>
      <p:sp>
        <p:nvSpPr>
          <p:cNvPr id="9" name="Text 6"/>
          <p:cNvSpPr txBox="1"/>
          <p:nvPr/>
        </p:nvSpPr>
        <p:spPr>
          <a:xfrm>
            <a:off x="6949440" y="224028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Python ETL / réconciliation</a:t>
            </a:r>
            <a:endParaRPr lang="en-US" sz="1200" dirty="0"/>
          </a:p>
        </p:txBody>
      </p:sp>
      <p:sp>
        <p:nvSpPr>
          <p:cNvPr id="10" name="carte-resultat-3"/>
          <p:cNvSpPr/>
          <p:nvPr/>
        </p:nvSpPr>
        <p:spPr>
          <a:xfrm>
            <a:off x="5486400" y="3291840"/>
            <a:ext cx="3200400" cy="896112"/>
          </a:xfrm>
          <a:prstGeom prst="roundRect">
            <a:avLst>
              <a:gd name="adj" fmla="val 8163"/>
            </a:avLst>
          </a:prstGeom>
          <a:solidFill>
            <a:schemeClr val="bg2"/>
          </a:solidFill>
          <a:ln w="12700">
            <a:solidFill>
              <a:schemeClr val="bg2"/>
            </a:solidFill>
            <a:prstDash val="solid"/>
          </a:ln>
        </p:spPr>
      </p:sp>
      <p:sp>
        <p:nvSpPr>
          <p:cNvPr id="11" name="Text 8"/>
          <p:cNvSpPr txBox="1"/>
          <p:nvPr/>
        </p:nvSpPr>
        <p:spPr>
          <a:xfrm>
            <a:off x="5623560" y="329184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27 / 27</a:t>
            </a:r>
            <a:endParaRPr lang="en-US" sz="2400" dirty="0"/>
          </a:p>
        </p:txBody>
      </p:sp>
      <p:sp>
        <p:nvSpPr>
          <p:cNvPr id="12" name="Text 9"/>
          <p:cNvSpPr txBox="1"/>
          <p:nvPr/>
        </p:nvSpPr>
        <p:spPr>
          <a:xfrm>
            <a:off x="6949440" y="329184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contrôles de la chaîne complète</a:t>
            </a:r>
            <a:endParaRPr lang="en-US" sz="1200" dirty="0"/>
          </a:p>
        </p:txBody>
      </p:sp>
      <p:sp>
        <p:nvSpPr>
          <p:cNvPr id="13" name="Text 10"/>
          <p:cNvSpPr txBox="1"/>
          <p:nvPr/>
        </p:nvSpPr>
        <p:spPr>
          <a:xfrm>
            <a:off x="5486400" y="4389120"/>
            <a:ext cx="3200400" cy="365760"/>
          </a:xfrm>
          <a:prstGeom prst="rect">
            <a:avLst/>
          </a:prstGeom>
          <a:noFill/>
          <a:ln/>
        </p:spPr>
        <p:txBody>
          <a:bodyPr wrap="square" lIns="0" tIns="0" rIns="0" bIns="0" rtlCol="0" anchor="ctr"/>
          <a:lstStyle/>
          <a:p>
            <a:pPr indent="0" marL="0">
              <a:buNone/>
            </a:pPr>
            <a:r>
              <a:rPr lang="en-US" sz="1100" i="1" dirty="0">
                <a:solidFill>
                  <a:schemeClr val="accent4"/>
                </a:solidFill>
                <a:latin typeface="Calibri" pitchFamily="34" charset="0"/>
                <a:ea typeface="Calibri" pitchFamily="34" charset="-122"/>
                <a:cs typeface="Calibri" pitchFamily="34" charset="-120"/>
              </a:rPr>
              <a:t>Zabbix : 9 contrôles, panne MongoDB détectée puis résolue. Couverture Python : 98 %.</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Membres du groupe 5 SI</a:t>
            </a:r>
            <a:endParaRPr lang="en-US" sz="3000" dirty="0"/>
          </a:p>
        </p:txBody>
      </p:sp>
      <p:sp>
        <p:nvSpPr>
          <p:cNvPr id="3" name="ligne-equipe-1"/>
          <p:cNvSpPr/>
          <p:nvPr/>
        </p:nvSpPr>
        <p:spPr>
          <a:xfrm>
            <a:off x="457200" y="1143000"/>
            <a:ext cx="8229600" cy="548640"/>
          </a:xfrm>
          <a:prstGeom prst="roundRect">
            <a:avLst>
              <a:gd name="adj" fmla="val 13333"/>
            </a:avLst>
          </a:prstGeom>
          <a:solidFill>
            <a:schemeClr val="bg2"/>
          </a:solidFill>
          <a:ln w="12700">
            <a:solidFill>
              <a:schemeClr val="bg2"/>
            </a:solidFill>
            <a:prstDash val="solid"/>
          </a:ln>
        </p:spPr>
      </p:sp>
      <p:sp>
        <p:nvSpPr>
          <p:cNvPr id="4" name="icone-equipe-1-cercle"/>
          <p:cNvSpPr/>
          <p:nvPr/>
        </p:nvSpPr>
        <p:spPr>
          <a:xfrm>
            <a:off x="566928" y="1207008"/>
            <a:ext cx="420624" cy="420624"/>
          </a:xfrm>
          <a:prstGeom prst="ellipse">
            <a:avLst/>
          </a:prstGeom>
          <a:solidFill>
            <a:srgbClr val="0F766E"/>
          </a:solidFill>
          <a:ln w="12700">
            <a:solidFill>
              <a:srgbClr val="0F766E"/>
            </a:solidFill>
            <a:prstDash val="solid"/>
          </a:ln>
        </p:spPr>
      </p:sp>
      <p:pic>
        <p:nvPicPr>
          <p:cNvPr id="5" name="icone-equipe-1" descr="icone-equipe-1">    </p:cNvPr>
          <p:cNvPicPr>
            <a:picLocks noChangeAspect="1"/>
          </p:cNvPicPr>
          <p:nvPr/>
        </p:nvPicPr>
        <p:blipFill>
          <a:blip r:embed="rId1"/>
          <a:stretch>
            <a:fillRect/>
          </a:stretch>
        </p:blipFill>
        <p:spPr>
          <a:xfrm>
            <a:off x="672084" y="1312164"/>
            <a:ext cx="210312" cy="210312"/>
          </a:xfrm>
          <a:prstGeom prst="rect">
            <a:avLst/>
          </a:prstGeom>
        </p:spPr>
      </p:pic>
      <p:sp>
        <p:nvSpPr>
          <p:cNvPr id="6" name="Text 3"/>
          <p:cNvSpPr txBox="1"/>
          <p:nvPr/>
        </p:nvSpPr>
        <p:spPr>
          <a:xfrm>
            <a:off x="1188720" y="1143000"/>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SANKARA</a:t>
            </a:r>
            <a:endParaRPr lang="en-US" sz="1400" dirty="0"/>
          </a:p>
        </p:txBody>
      </p:sp>
      <p:sp>
        <p:nvSpPr>
          <p:cNvPr id="7" name="Text 4"/>
          <p:cNvSpPr txBox="1"/>
          <p:nvPr/>
        </p:nvSpPr>
        <p:spPr>
          <a:xfrm>
            <a:off x="2926080" y="1143000"/>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Michail Alioun Juste</a:t>
            </a:r>
            <a:endParaRPr lang="en-US" sz="1300" dirty="0"/>
          </a:p>
        </p:txBody>
      </p:sp>
      <p:sp>
        <p:nvSpPr>
          <p:cNvPr id="8" name="ligne-equipe-2"/>
          <p:cNvSpPr/>
          <p:nvPr/>
        </p:nvSpPr>
        <p:spPr>
          <a:xfrm>
            <a:off x="457200" y="1801368"/>
            <a:ext cx="8229600" cy="548640"/>
          </a:xfrm>
          <a:prstGeom prst="roundRect">
            <a:avLst>
              <a:gd name="adj" fmla="val 13333"/>
            </a:avLst>
          </a:prstGeom>
          <a:solidFill>
            <a:schemeClr val="bg2"/>
          </a:solidFill>
          <a:ln w="12700">
            <a:solidFill>
              <a:schemeClr val="bg2"/>
            </a:solidFill>
            <a:prstDash val="solid"/>
          </a:ln>
        </p:spPr>
      </p:sp>
      <p:sp>
        <p:nvSpPr>
          <p:cNvPr id="9" name="icone-equipe-2-cercle"/>
          <p:cNvSpPr/>
          <p:nvPr/>
        </p:nvSpPr>
        <p:spPr>
          <a:xfrm>
            <a:off x="566928" y="1865376"/>
            <a:ext cx="420624" cy="420624"/>
          </a:xfrm>
          <a:prstGeom prst="ellipse">
            <a:avLst/>
          </a:prstGeom>
          <a:solidFill>
            <a:srgbClr val="2563EB"/>
          </a:solidFill>
          <a:ln w="12700">
            <a:solidFill>
              <a:srgbClr val="2563EB"/>
            </a:solidFill>
            <a:prstDash val="solid"/>
          </a:ln>
        </p:spPr>
      </p:sp>
      <p:pic>
        <p:nvPicPr>
          <p:cNvPr id="10" name="icone-equipe-2" descr="icone-equipe-2">    </p:cNvPr>
          <p:cNvPicPr>
            <a:picLocks noChangeAspect="1"/>
          </p:cNvPicPr>
          <p:nvPr/>
        </p:nvPicPr>
        <p:blipFill>
          <a:blip r:embed="rId2"/>
          <a:stretch>
            <a:fillRect/>
          </a:stretch>
        </p:blipFill>
        <p:spPr>
          <a:xfrm>
            <a:off x="672084" y="1970532"/>
            <a:ext cx="210312" cy="210312"/>
          </a:xfrm>
          <a:prstGeom prst="rect">
            <a:avLst/>
          </a:prstGeom>
        </p:spPr>
      </p:pic>
      <p:sp>
        <p:nvSpPr>
          <p:cNvPr id="11" name="Text 7"/>
          <p:cNvSpPr txBox="1"/>
          <p:nvPr/>
        </p:nvSpPr>
        <p:spPr>
          <a:xfrm>
            <a:off x="1188720" y="1801368"/>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KOANDA</a:t>
            </a:r>
            <a:endParaRPr lang="en-US" sz="1400" dirty="0"/>
          </a:p>
        </p:txBody>
      </p:sp>
      <p:sp>
        <p:nvSpPr>
          <p:cNvPr id="12" name="Text 8"/>
          <p:cNvSpPr txBox="1"/>
          <p:nvPr/>
        </p:nvSpPr>
        <p:spPr>
          <a:xfrm>
            <a:off x="2926080" y="1801368"/>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GILDAS</a:t>
            </a:r>
            <a:endParaRPr lang="en-US" sz="1300" dirty="0"/>
          </a:p>
        </p:txBody>
      </p:sp>
      <p:sp>
        <p:nvSpPr>
          <p:cNvPr id="13" name="ligne-equipe-3"/>
          <p:cNvSpPr/>
          <p:nvPr/>
        </p:nvSpPr>
        <p:spPr>
          <a:xfrm>
            <a:off x="457200" y="2459736"/>
            <a:ext cx="8229600" cy="548640"/>
          </a:xfrm>
          <a:prstGeom prst="roundRect">
            <a:avLst>
              <a:gd name="adj" fmla="val 13333"/>
            </a:avLst>
          </a:prstGeom>
          <a:solidFill>
            <a:schemeClr val="bg2"/>
          </a:solidFill>
          <a:ln w="12700">
            <a:solidFill>
              <a:schemeClr val="bg2"/>
            </a:solidFill>
            <a:prstDash val="solid"/>
          </a:ln>
        </p:spPr>
      </p:sp>
      <p:sp>
        <p:nvSpPr>
          <p:cNvPr id="14" name="icone-equipe-3-cercle"/>
          <p:cNvSpPr/>
          <p:nvPr/>
        </p:nvSpPr>
        <p:spPr>
          <a:xfrm>
            <a:off x="566928" y="2523744"/>
            <a:ext cx="420624" cy="420624"/>
          </a:xfrm>
          <a:prstGeom prst="ellipse">
            <a:avLst/>
          </a:prstGeom>
          <a:solidFill>
            <a:srgbClr val="C2410C"/>
          </a:solidFill>
          <a:ln w="12700">
            <a:solidFill>
              <a:srgbClr val="C2410C"/>
            </a:solidFill>
            <a:prstDash val="solid"/>
          </a:ln>
        </p:spPr>
      </p:sp>
      <p:pic>
        <p:nvPicPr>
          <p:cNvPr id="15" name="icone-equipe-3" descr="icone-equipe-3">    </p:cNvPr>
          <p:cNvPicPr>
            <a:picLocks noChangeAspect="1"/>
          </p:cNvPicPr>
          <p:nvPr/>
        </p:nvPicPr>
        <p:blipFill>
          <a:blip r:embed="rId3"/>
          <a:stretch>
            <a:fillRect/>
          </a:stretch>
        </p:blipFill>
        <p:spPr>
          <a:xfrm>
            <a:off x="672084" y="2628900"/>
            <a:ext cx="210312" cy="210312"/>
          </a:xfrm>
          <a:prstGeom prst="rect">
            <a:avLst/>
          </a:prstGeom>
        </p:spPr>
      </p:pic>
      <p:sp>
        <p:nvSpPr>
          <p:cNvPr id="16" name="Text 11"/>
          <p:cNvSpPr txBox="1"/>
          <p:nvPr/>
        </p:nvSpPr>
        <p:spPr>
          <a:xfrm>
            <a:off x="1188720" y="2459736"/>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BARRY</a:t>
            </a:r>
            <a:endParaRPr lang="en-US" sz="1400" dirty="0"/>
          </a:p>
        </p:txBody>
      </p:sp>
      <p:sp>
        <p:nvSpPr>
          <p:cNvPr id="17" name="Text 12"/>
          <p:cNvSpPr txBox="1"/>
          <p:nvPr/>
        </p:nvSpPr>
        <p:spPr>
          <a:xfrm>
            <a:off x="2926080" y="2459736"/>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EL NOUR</a:t>
            </a:r>
            <a:endParaRPr lang="en-US" sz="1300" dirty="0"/>
          </a:p>
        </p:txBody>
      </p:sp>
      <p:sp>
        <p:nvSpPr>
          <p:cNvPr id="18" name="ligne-equipe-4"/>
          <p:cNvSpPr/>
          <p:nvPr/>
        </p:nvSpPr>
        <p:spPr>
          <a:xfrm>
            <a:off x="457200" y="3118104"/>
            <a:ext cx="8229600" cy="548640"/>
          </a:xfrm>
          <a:prstGeom prst="roundRect">
            <a:avLst>
              <a:gd name="adj" fmla="val 13333"/>
            </a:avLst>
          </a:prstGeom>
          <a:solidFill>
            <a:schemeClr val="bg2"/>
          </a:solidFill>
          <a:ln w="12700">
            <a:solidFill>
              <a:schemeClr val="bg2"/>
            </a:solidFill>
            <a:prstDash val="solid"/>
          </a:ln>
        </p:spPr>
      </p:sp>
      <p:sp>
        <p:nvSpPr>
          <p:cNvPr id="19" name="icone-equipe-4-cercle"/>
          <p:cNvSpPr/>
          <p:nvPr/>
        </p:nvSpPr>
        <p:spPr>
          <a:xfrm>
            <a:off x="566928" y="3182112"/>
            <a:ext cx="420624" cy="420624"/>
          </a:xfrm>
          <a:prstGeom prst="ellipse">
            <a:avLst/>
          </a:prstGeom>
          <a:solidFill>
            <a:srgbClr val="0F766E"/>
          </a:solidFill>
          <a:ln w="12700">
            <a:solidFill>
              <a:srgbClr val="0F766E"/>
            </a:solidFill>
            <a:prstDash val="solid"/>
          </a:ln>
        </p:spPr>
      </p:sp>
      <p:pic>
        <p:nvPicPr>
          <p:cNvPr id="20" name="icone-equipe-4" descr="icone-equipe-4">    </p:cNvPr>
          <p:cNvPicPr>
            <a:picLocks noChangeAspect="1"/>
          </p:cNvPicPr>
          <p:nvPr/>
        </p:nvPicPr>
        <p:blipFill>
          <a:blip r:embed="rId4"/>
          <a:stretch>
            <a:fillRect/>
          </a:stretch>
        </p:blipFill>
        <p:spPr>
          <a:xfrm>
            <a:off x="672084" y="3287268"/>
            <a:ext cx="210312" cy="210312"/>
          </a:xfrm>
          <a:prstGeom prst="rect">
            <a:avLst/>
          </a:prstGeom>
        </p:spPr>
      </p:pic>
      <p:sp>
        <p:nvSpPr>
          <p:cNvPr id="21" name="Text 15"/>
          <p:cNvSpPr txBox="1"/>
          <p:nvPr/>
        </p:nvSpPr>
        <p:spPr>
          <a:xfrm>
            <a:off x="1188720" y="3118104"/>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CONGO</a:t>
            </a:r>
            <a:endParaRPr lang="en-US" sz="1400" dirty="0"/>
          </a:p>
        </p:txBody>
      </p:sp>
      <p:sp>
        <p:nvSpPr>
          <p:cNvPr id="22" name="Text 16"/>
          <p:cNvSpPr txBox="1"/>
          <p:nvPr/>
        </p:nvSpPr>
        <p:spPr>
          <a:xfrm>
            <a:off x="2926080" y="3118104"/>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Bénéré Nelson Cephas</a:t>
            </a:r>
            <a:endParaRPr lang="en-US" sz="1300" dirty="0"/>
          </a:p>
        </p:txBody>
      </p:sp>
      <p:sp>
        <p:nvSpPr>
          <p:cNvPr id="23" name="ligne-equipe-5"/>
          <p:cNvSpPr/>
          <p:nvPr/>
        </p:nvSpPr>
        <p:spPr>
          <a:xfrm>
            <a:off x="457200" y="3776472"/>
            <a:ext cx="8229600" cy="548640"/>
          </a:xfrm>
          <a:prstGeom prst="roundRect">
            <a:avLst>
              <a:gd name="adj" fmla="val 13333"/>
            </a:avLst>
          </a:prstGeom>
          <a:solidFill>
            <a:schemeClr val="bg2"/>
          </a:solidFill>
          <a:ln w="12700">
            <a:solidFill>
              <a:schemeClr val="bg2"/>
            </a:solidFill>
            <a:prstDash val="solid"/>
          </a:ln>
        </p:spPr>
      </p:sp>
      <p:sp>
        <p:nvSpPr>
          <p:cNvPr id="24" name="icone-equipe-5-cercle"/>
          <p:cNvSpPr/>
          <p:nvPr/>
        </p:nvSpPr>
        <p:spPr>
          <a:xfrm>
            <a:off x="566928" y="3840480"/>
            <a:ext cx="420624" cy="420624"/>
          </a:xfrm>
          <a:prstGeom prst="ellipse">
            <a:avLst/>
          </a:prstGeom>
          <a:solidFill>
            <a:srgbClr val="2563EB"/>
          </a:solidFill>
          <a:ln w="12700">
            <a:solidFill>
              <a:srgbClr val="2563EB"/>
            </a:solidFill>
            <a:prstDash val="solid"/>
          </a:ln>
        </p:spPr>
      </p:sp>
      <p:pic>
        <p:nvPicPr>
          <p:cNvPr id="25" name="icone-equipe-5" descr="icone-equipe-5">    </p:cNvPr>
          <p:cNvPicPr>
            <a:picLocks noChangeAspect="1"/>
          </p:cNvPicPr>
          <p:nvPr/>
        </p:nvPicPr>
        <p:blipFill>
          <a:blip r:embed="rId5"/>
          <a:stretch>
            <a:fillRect/>
          </a:stretch>
        </p:blipFill>
        <p:spPr>
          <a:xfrm>
            <a:off x="672084" y="3945636"/>
            <a:ext cx="210312" cy="210312"/>
          </a:xfrm>
          <a:prstGeom prst="rect">
            <a:avLst/>
          </a:prstGeom>
        </p:spPr>
      </p:pic>
      <p:sp>
        <p:nvSpPr>
          <p:cNvPr id="26" name="Text 19"/>
          <p:cNvSpPr txBox="1"/>
          <p:nvPr/>
        </p:nvSpPr>
        <p:spPr>
          <a:xfrm>
            <a:off x="1188720" y="3776472"/>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KONE</a:t>
            </a:r>
            <a:endParaRPr lang="en-US" sz="1400" dirty="0"/>
          </a:p>
        </p:txBody>
      </p:sp>
      <p:sp>
        <p:nvSpPr>
          <p:cNvPr id="27" name="Text 20"/>
          <p:cNvSpPr txBox="1"/>
          <p:nvPr/>
        </p:nvSpPr>
        <p:spPr>
          <a:xfrm>
            <a:off x="2926080" y="3776472"/>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Assita</a:t>
            </a:r>
            <a:endParaRPr lang="en-US" sz="1300" dirty="0"/>
          </a:p>
        </p:txBody>
      </p:sp>
      <p:sp>
        <p:nvSpPr>
          <p:cNvPr id="28" name="Text 21"/>
          <p:cNvSpPr txBox="1"/>
          <p:nvPr/>
        </p:nvSpPr>
        <p:spPr>
          <a:xfrm>
            <a:off x="457200" y="4480560"/>
            <a:ext cx="5486400" cy="274320"/>
          </a:xfrm>
          <a:prstGeom prst="rect">
            <a:avLst/>
          </a:prstGeom>
          <a:noFill/>
          <a:ln/>
        </p:spPr>
        <p:txBody>
          <a:bodyPr wrap="square" lIns="0" tIns="0" rIns="0" bIns="0" rtlCol="0" anchor="ctr"/>
          <a:lstStyle/>
          <a:p>
            <a:pPr indent="0" marL="0">
              <a:buNone/>
            </a:pPr>
            <a:r>
              <a:rPr lang="en-US" sz="1100" i="1" dirty="0">
                <a:solidFill>
                  <a:schemeClr val="accent5"/>
                </a:solidFill>
                <a:latin typeface="Calibri" pitchFamily="34" charset="0"/>
                <a:ea typeface="Calibri" pitchFamily="34" charset="-122"/>
                <a:cs typeface="Calibri" pitchFamily="34" charset="-120"/>
              </a:rPr>
              <a:t>IBAM · Groupe 5 SI · Exercice 7 · 2026</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Ce qu'il faut retenir</a:t>
            </a:r>
            <a:endParaRPr lang="en-US" sz="4000" dirty="0"/>
          </a:p>
        </p:txBody>
      </p:sp>
      <p:sp>
        <p:nvSpPr>
          <p:cNvPr id="3" name="Text 1"/>
          <p:cNvSpPr txBox="1"/>
          <p:nvPr/>
        </p:nvSpPr>
        <p:spPr>
          <a:xfrm>
            <a:off x="548640" y="2377440"/>
            <a:ext cx="8046720" cy="18288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MongoDB est la référence ; le service SOAP n'écrit jamais dans MySQL</a:t>
            </a:r>
            <a:endParaRPr lang="en-US" sz="1800" dirty="0"/>
          </a:p>
          <a:p>
            <a:pPr marL="342900" indent="-342900">
              <a:spcAft>
                <a:spcPts val="1000"/>
              </a:spcAft>
              <a:buSzPct val="100000"/>
              <a:buChar char="•"/>
            </a:pPr>
            <a:r>
              <a:rPr lang="en-US" sz="1800" dirty="0">
                <a:solidFill>
                  <a:schemeClr val="bg1"/>
                </a:solidFill>
              </a:rPr>
              <a:t>ETL idempotent avec contrôle qualité et rejets tracés</a:t>
            </a:r>
            <a:endParaRPr lang="en-US" sz="1800" dirty="0"/>
          </a:p>
          <a:p>
            <a:pPr marL="342900" indent="-342900">
              <a:spcAft>
                <a:spcPts val="1000"/>
              </a:spcAft>
              <a:buSzPct val="100000"/>
              <a:buChar char="•"/>
            </a:pPr>
            <a:r>
              <a:rPr lang="en-US" sz="1800" dirty="0">
                <a:solidFill>
                  <a:schemeClr val="bg1"/>
                </a:solidFill>
              </a:rPr>
              <a:t>Réconciliation avec détection de conflits et audit</a:t>
            </a:r>
            <a:endParaRPr lang="en-US" sz="1800" dirty="0"/>
          </a:p>
          <a:p>
            <a:pPr marL="342900" indent="-342900">
              <a:spcAft>
                <a:spcPts val="1000"/>
              </a:spcAft>
              <a:buSzPct val="100000"/>
              <a:buChar char="•"/>
            </a:pPr>
            <a:r>
              <a:rPr lang="en-US" sz="1800" dirty="0">
                <a:solidFill>
                  <a:schemeClr val="bg1"/>
                </a:solidFill>
              </a:rPr>
              <a:t>Supervision par alertes : panne de base, latence, retard ETL</a:t>
            </a:r>
            <a:endParaRPr lang="en-US" sz="1800" dirty="0"/>
          </a:p>
        </p:txBody>
      </p:sp>
      <p:sp>
        <p:nvSpPr>
          <p:cNvPr id="4" name="Text 2"/>
          <p:cNvSpPr txBox="1"/>
          <p:nvPr/>
        </p:nvSpPr>
        <p:spPr>
          <a:xfrm>
            <a:off x="548640" y="4297680"/>
            <a:ext cx="8046720" cy="548640"/>
          </a:xfrm>
          <a:prstGeom prst="rect">
            <a:avLst/>
          </a:prstGeom>
          <a:noFill/>
          <a:ln/>
        </p:spPr>
        <p:txBody>
          <a:bodyPr wrap="square" lIns="0" tIns="0" rIns="0" bIns="0" rtlCol="0" anchor="ctr"/>
          <a:lstStyle/>
          <a:p>
            <a:pPr indent="0" marL="0">
              <a:buNone/>
            </a:pPr>
            <a:r>
              <a:rPr lang="en-US" sz="1300" dirty="0">
                <a:solidFill>
                  <a:schemeClr val="accent2"/>
                </a:solidFill>
                <a:latin typeface="Calibri" pitchFamily="34" charset="0"/>
                <a:ea typeface="Calibri" pitchFamily="34" charset="-122"/>
                <a:cs typeface="Calibri" pitchFamily="34" charset="-120"/>
              </a:rPr>
              <a:t>Limites : délai lié aux DAG et aux reprises · accès local sans authentification SOAP · pas de création/suppression</a:t>
            </a:r>
            <a:endParaRPr lang="en-US" sz="1300" dirty="0"/>
          </a:p>
        </p:txBody>
      </p:sp>
    </p:spTree>
  </p:cSld>
  <p:clrMapOvr>
    <a:masterClrMapping/>
  </p:clrMapOvr>
</p:sld>
</file>

<file path=ppt/theme/theme1.xml><?xml version="1.0" encoding="utf-8"?>
<a:theme xmlns:a="http://schemas.openxmlformats.org/drawingml/2006/main" name="IBAM SOAP Clients">
  <a:themeElements>
    <a:clrScheme name="IBAM SOAP Clients">
      <a:dk1>
        <a:srgbClr val="17262E"/>
      </a:dk1>
      <a:lt1>
        <a:srgbClr val="FFFFFF"/>
      </a:lt1>
      <a:dk2>
        <a:srgbClr val="0B3C49"/>
      </a:dk2>
      <a:lt2>
        <a:srgbClr val="EDF3F4"/>
      </a:lt2>
      <a:accent1>
        <a:srgbClr val="0F766E"/>
      </a:accent1>
      <a:accent2>
        <a:srgbClr val="F2A900"/>
      </a:accent2>
      <a:accent3>
        <a:srgbClr val="2563EB"/>
      </a:accent3>
      <a:accent4>
        <a:srgbClr val="C2410C"/>
      </a:accent4>
      <a:accent5>
        <a:srgbClr val="64767F"/>
      </a:accent5>
      <a:accent6>
        <a:srgbClr val="15803D"/>
      </a:accent6>
      <a:hlink>
        <a:srgbClr val="0F766E"/>
      </a:hlink>
      <a:folHlink>
        <a:srgbClr val="64767F"/>
      </a:folHlink>
    </a:clrScheme>
    <a:fontScheme name="IBAM SOAP Clien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clients — Groupe 5 SI</dc:title>
  <dc:subject>Exercice 7 — Laravel, Airflow, MySQL, MongoDB et Zabbix</dc:subject>
  <dc:creator>SANKARA, KOANDA, BARRY, CONGO, KONE — Groupe 5 SI</dc:creator>
  <cp:lastModifiedBy>Groupe 5 SI - IBAM</cp:lastModifiedBy>
  <cp:revision>1</cp:revision>
  <dcterms:created xsi:type="dcterms:W3CDTF">2026-10-19T17:10:26Z</dcterms:created>
  <dcterms:modified xsi:type="dcterms:W3CDTF">2026-10-19T17:10:26Z</dcterms:modified>
</cp:coreProperties>
</file>