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b595d52-9839-94ab-b1c4-7221cd15fcfa}">
          <p14:sldIdLst>
            <p14:sldId id="256"/>
            <p14:sldId id="257"/>
          </p14:sldIdLst>
        </p14:section>
        <p14:section name="Conception" id="{bf52d161-ed1c-beea-026a-9af98e9843cd}">
          <p14:sldIdLst>
            <p14:sldId id="258"/>
            <p14:sldId id="259"/>
          </p14:sldIdLst>
        </p14:section>
        <p14:section name="Réalisation" id="{ea02dc4f-4718-0a71-8e73-91508fc6a062}">
          <p14:sldIdLst>
            <p14:sldId id="260"/>
            <p14:sldId id="261"/>
            <p14:sldId id="262"/>
            <p14:sldId id="263"/>
          </p14:sldIdLst>
        </p14:section>
        <p14:section name="Exploitation" id="{925787cb-49fd-d040-bf1f-dde8347cec70}">
          <p14:sldIdLst>
            <p14:sldId id="264"/>
            <p14:sldId id="265"/>
            <p14:sldId id="266"/>
          </p14:sldIdLst>
        </p14:section>
        <p14:section name="Conclusion" id="{f8671401-e101-c7a7-a6ce-5512ea2df7e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C49"/>
                </a:solidFill>
                <a:latin typeface="+mn-lt"/>
              </a:defRPr>
            </a:pPr>
            <a:r>
              <a:rPr sz="1300" b="0" i="0" u="none" strike="noStrike">
                <a:solidFill>
                  <a:srgbClr val="0B3C49"/>
                </a:solidFill>
                <a:latin typeface="+mn-lt"/>
              </a:rPr>
              <a:t>20 cas de test SOAP par domaine</a:t>
            </a:r>
          </a:p>
        </c:rich>
      </c:tx>
      <c:layout/>
      <c:overlay val="0"/>
    </c:title>
    <c:autoTitleDeleted val="0"/>
    <c:plotArea>
      <c:layout/>
      <c:barChart>
        <c:barDir val="bar"/>
        <c:grouping val="clustered"/>
        <c:varyColors val="0"/>
        <c:ser>
          <c:idx val="0"/>
          <c:order val="0"/>
          <c:tx>
            <c:strRef>
              <c:f>Sheet1!$B$1</c:f>
              <c:strCache>
                <c:ptCount val="1"/>
                <c:pt idx="0">
                  <c:v>Cas de test</c:v>
                </c:pt>
              </c:strCache>
            </c:strRef>
          </c:tx>
          <c:spPr>
            <a:solidFill>
              <a:srgbClr val="0F766E"/>
            </a:solidFill>
            <a:effectLst/>
          </c:spPr>
          <c:invertIfNegative val="0"/>
          <c:dLbls>
            <c:numFmt formatCode="#,##0" sourceLinked="0"/>
            <c:txPr>
              <a:bodyPr/>
              <a:lstStyle/>
              <a:p>
                <a:pPr>
                  <a:defRPr b="0" i="0" strike="noStrike" sz="1100" u="none">
                    <a:solidFill>
                      <a:srgbClr val="17262E"/>
                    </a:solidFill>
                    <a:latin typeface="+mn-lt"/>
                  </a:defRPr>
                </a:pPr>
              </a:p>
            </c:txPr>
            <c:showLegendKey val="0"/>
            <c:showVal val="1"/>
            <c:showCatName val="0"/>
            <c:showSerName val="0"/>
            <c:showPercent val="0"/>
            <c:showBubbleSize val="0"/>
            <c:showLeaderLines val="0"/>
          </c:dLbls>
          <c:cat>
            <c:multiLvlStrRef>
              <c:f>Sheet1!$A$2:$A$7</c:f>
              <c:multiLvlStrCache>
                <c:ptCount val="6"/>
                <c:lvl>
                  <c:pt idx="0">
                    <c:v>WSDL</c:v>
                  </c:pt>
                  <c:pt idx="1">
                    <c:v>getClientDetails</c:v>
                  </c:pt>
                  <c:pt idx="2">
                    <c:v>searchClients</c:v>
                  </c:pt>
                  <c:pt idx="3">
                    <c:v>updateClient</c:v>
                  </c:pt>
                  <c:pt idx="4">
                    <c:v>Enveloppe</c:v>
                  </c:pt>
                  <c:pt idx="5">
                    <c:v>Panne base</c:v>
                  </c:pt>
                </c:lvl>
              </c:multiLvlStrCache>
            </c:multiLvlStrRef>
          </c:cat>
          <c:val>
            <c:numRef>
              <c:f>Sheet1!$B$2:$B$7</c:f>
              <c:numCache>
                <c:formatCode>General</c:formatCode>
                <c:ptCount val="6"/>
                <c:pt idx="0">
                  <c:v>1</c:v>
                </c:pt>
                <c:pt idx="1">
                  <c:v>3</c:v>
                </c:pt>
                <c:pt idx="2">
                  <c:v>5</c:v>
                </c:pt>
                <c:pt idx="3">
                  <c:v>8</c:v>
                </c:pt>
                <c:pt idx="4">
                  <c:v>1</c:v>
                </c:pt>
                <c:pt idx="5">
                  <c:v>2</c:v>
                </c:pt>
              </c:numCache>
            </c:numRef>
          </c:val>
        </c:ser>
        <c:dLbls>
          <c:numFmt formatCode="#,##0" sourceLinked="0"/>
          <c:txPr>
            <a:bodyPr/>
            <a:lstStyle/>
            <a:p>
              <a:pPr>
                <a:defRPr b="0" i="0" strike="noStrike" sz="1100" u="none">
                  <a:solidFill>
                    <a:srgbClr val="1726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7262E"/>
                </a:solidFill>
                <a:latin typeface="+mn-lt"/>
              </a:defRPr>
            </a:pPr>
            <a:endParaRPr lang="en-US"/>
          </a:p>
        </c:txPr>
        <c:crossAx val="2094734552"/>
        <c:crosses val="autoZero"/>
        <c:auto val="1"/>
        <c:lblAlgn val="ctr"/>
        <c:noMultiLvlLbl val="1"/>
      </c:catAx>
      <c:valAx>
        <c:axId val="2094734552"/>
        <c:scaling>
          <c:orientation val="minMax"/>
          <c:max val="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thème 7 : un service SOAP de gestion de clients dont MongoDB est la base de référence, alimenté par Airflow depuis MySQL et supervisé par Zabbix. Durée visée : 10 minutes + démonstration.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7 points de l'exercice 7 plus les livrables communs du projet (dépôt public, installation reproductible, test de bout en bout,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 principal de gauche à droite. Deux DAG : le DAG 1 charge MongoDB, le DAG 2 renvoie vers MySQL les modifications faites par SOAP. Le service Laravel ne parle qu'à MongoDB. Zabbix interroge deux endpoints HTTP du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jeu de données est généré par un script déterministe (graine fixe). Sept lignes sont volontairement invalides pour montrer le contrôle qualité d'Airflow. Les rejets ne bloquent pas le chargement, ils sont archivés avec leur motif.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DAG 1 est planifié toutes les heures, sans rattrapage. L'idempotence est testée : un deuxième passage ne modifie rien, pas même les numéros de version. Un client modifié par SOAP n'est jamais écrasé par la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validateur JSON Schema empêche d'écrire un document invalide même en dehors du service. Les deux index uniques garantissent l'unicité du code client et de l'e-mail.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opérations, un contrat WSDL unique. Le service est une classe PHP (ext-soap) derrière une route Laravel sans session ni CSRF. Une modification est atomique : findOneAndUpdate filtré sur le code et la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Fault porte un code stable, un message et le champ fautif. La différence entre faute Client (à corriger par l'appelant) et faute Server (à réessayer) est exploitée par Zabbix : seules les fautes serveur déclenchent une alerte.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service SOAP n'écrit jamais dans MySQL : pas de double écriture ni de transaction distribuée. La fenêtre d'incohérence va jusqu'à une heure ; le DAG 2 peut être déclenché à la demande. Limite assumée : pas de création ni de suppression dans ce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endpoints /health et /monitoring/stats sont lus par l'agent HTTP du serveur Zabbix. Démonstration possible : docker compose stop mongo fait apparaître l'alerte MongoDB indisponible en moins d'une minute. Le template n'a pas encore été importé sur un serveur Zabbix réel : à valider au premier démarrage.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20 tests couvrent le WSDL, les trois opérations, tous les codes de Fault métier, une enveloppe invalide et la panne puis la reprise de la base. Ils ont été exécutés sur un serveur PHP 8.3 avec un dépôt en mémoire et un vrai client SOAP PHP ; la même suite tourne contre Docker avec l'option --db-down docker. Soyons transparents : l'image Docker, MongoDB réel et Zabbix n'ont pas encore été exécutés.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Répartition proposée, à remplacer par les vrais noms et rôles du groupe avant la soutenance.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la chaîne complète est fonctionnelle et documentée. Perspectives : authentification WS-Security ou passerelle d'API, Change Streams MongoDB pour une réconciliation quasi temps réel, notifications Zabbix.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0B3C4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rPr>
              <a:t>Service SOAP de clients</a:t>
            </a:r>
            <a:endParaRPr lang="en-US" sz="4000" dirty="0"/>
          </a:p>
        </p:txBody>
      </p:sp>
      <p:sp>
        <p:nvSpPr>
          <p:cNvPr id="3" name="Text 1"/>
          <p:cNvSpPr txBox="1"/>
          <p:nvPr/>
        </p:nvSpPr>
        <p:spPr>
          <a:xfrm>
            <a:off x="548640" y="2514600"/>
            <a:ext cx="8046720" cy="457200"/>
          </a:xfrm>
          <a:prstGeom prst="rect">
            <a:avLst/>
          </a:prstGeom>
          <a:noFill/>
          <a:ln/>
        </p:spPr>
        <p:txBody>
          <a:bodyPr wrap="square" lIns="0" tIns="0" rIns="0" bIns="0" rtlCol="0" anchor="ctr"/>
          <a:lstStyle/>
          <a:p>
            <a:pPr indent="0" marL="0">
              <a:buNone/>
            </a:pPr>
            <a:r>
              <a:rPr lang="en-US" sz="2200" b="1" dirty="0">
                <a:solidFill>
                  <a:schemeClr val="accent2"/>
                </a:solidFill>
                <a:latin typeface="Calibri" pitchFamily="34" charset="0"/>
                <a:ea typeface="Calibri" pitchFamily="34" charset="-122"/>
                <a:cs typeface="Calibri" pitchFamily="34" charset="-120"/>
              </a:rPr>
              <a:t>Laravel · Airflow · MongoDB · Zabbix</a:t>
            </a:r>
            <a:endParaRPr lang="en-US" sz="2200" dirty="0"/>
          </a:p>
        </p:txBody>
      </p:sp>
      <p:sp>
        <p:nvSpPr>
          <p:cNvPr id="4" name="Text 2"/>
          <p:cNvSpPr txBox="1"/>
          <p:nvPr/>
        </p:nvSpPr>
        <p:spPr>
          <a:xfrm>
            <a:off x="548640" y="3200400"/>
            <a:ext cx="8046720" cy="731520"/>
          </a:xfrm>
          <a:prstGeom prst="rect">
            <a:avLst/>
          </a:prstGeom>
          <a:noFill/>
          <a:ln/>
        </p:spPr>
        <p:txBody>
          <a:bodyPr wrap="square" lIns="0" tIns="0" rIns="0" bIns="0" rtlCol="0" anchor="ctr"/>
          <a:lstStyle/>
          <a:p>
            <a:pPr indent="0" marL="0">
              <a:buNone/>
            </a:pPr>
            <a:r>
              <a:rPr lang="en-US" sz="1600" dirty="0">
                <a:solidFill>
                  <a:schemeClr val="bg2"/>
                </a:solidFill>
                <a:latin typeface="Calibri" pitchFamily="34" charset="0"/>
                <a:ea typeface="Calibri" pitchFamily="34" charset="-122"/>
                <a:cs typeface="Calibri" pitchFamily="34" charset="-120"/>
              </a:rPr>
              <a:t>Projet Développement à base de composants et services web</a:t>
            </a:r>
            <a:endParaRPr lang="en-US" sz="1600" dirty="0"/>
          </a:p>
          <a:p>
            <a:pPr indent="0" marL="0">
              <a:buNone/>
            </a:pPr>
            <a:r>
              <a:rPr lang="en-US" sz="1600" dirty="0">
                <a:solidFill>
                  <a:schemeClr val="bg2"/>
                </a:solidFill>
                <a:latin typeface="Calibri" pitchFamily="34" charset="0"/>
                <a:ea typeface="Calibri" pitchFamily="34" charset="-122"/>
                <a:cs typeface="Calibri" pitchFamily="34" charset="-120"/>
              </a:rPr>
              <a:t>Groupe 5 SI · Thème n° 7 · IBAM · Octobre 2026</a:t>
            </a:r>
            <a:endParaRPr lang="en-US" sz="1600" dirty="0"/>
          </a:p>
        </p:txBody>
      </p:sp>
      <p:sp>
        <p:nvSpPr>
          <p:cNvPr id="5" name="logo-serveur-cercle"/>
          <p:cNvSpPr/>
          <p:nvPr/>
        </p:nvSpPr>
        <p:spPr>
          <a:xfrm>
            <a:off x="548640" y="502920"/>
            <a:ext cx="548640" cy="548640"/>
          </a:xfrm>
          <a:prstGeom prst="ellipse">
            <a:avLst/>
          </a:prstGeom>
          <a:solidFill>
            <a:srgbClr val="0F766E"/>
          </a:solidFill>
          <a:ln w="12700">
            <a:solidFill>
              <a:srgbClr val="0F766E"/>
            </a:solidFill>
            <a:prstDash val="solid"/>
          </a:ln>
        </p:spPr>
      </p:sp>
      <p:pic>
        <p:nvPicPr>
          <p:cNvPr id="6" name="logo-serveur" descr="logo-serveur">    </p:cNvPr>
          <p:cNvPicPr>
            <a:picLocks noChangeAspect="1"/>
          </p:cNvPicPr>
          <p:nvPr/>
        </p:nvPicPr>
        <p:blipFill>
          <a:blip r:embed="rId1"/>
          <a:stretch>
            <a:fillRect/>
          </a:stretch>
        </p:blipFill>
        <p:spPr>
          <a:xfrm>
            <a:off x="685800" y="640080"/>
            <a:ext cx="274320" cy="274320"/>
          </a:xfrm>
          <a:prstGeom prst="rect">
            <a:avLst/>
          </a:prstGeom>
        </p:spPr>
      </p:pic>
      <p:sp>
        <p:nvSpPr>
          <p:cNvPr id="7" name="logo-base-cercle"/>
          <p:cNvSpPr/>
          <p:nvPr/>
        </p:nvSpPr>
        <p:spPr>
          <a:xfrm>
            <a:off x="1188720" y="502920"/>
            <a:ext cx="548640" cy="548640"/>
          </a:xfrm>
          <a:prstGeom prst="ellipse">
            <a:avLst/>
          </a:prstGeom>
          <a:solidFill>
            <a:srgbClr val="F2A900"/>
          </a:solidFill>
          <a:ln w="12700">
            <a:solidFill>
              <a:srgbClr val="F2A900"/>
            </a:solidFill>
            <a:prstDash val="solid"/>
          </a:ln>
        </p:spPr>
      </p:sp>
      <p:pic>
        <p:nvPicPr>
          <p:cNvPr id="8" name="logo-base" descr="logo-base">    </p:cNvPr>
          <p:cNvPicPr>
            <a:picLocks noChangeAspect="1"/>
          </p:cNvPicPr>
          <p:nvPr/>
        </p:nvPicPr>
        <p:blipFill>
          <a:blip r:embed="rId2"/>
          <a:stretch>
            <a:fillRect/>
          </a:stretch>
        </p:blipFill>
        <p:spPr>
          <a:xfrm>
            <a:off x="1325880" y="640080"/>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Ce que le sujet demande</a:t>
            </a:r>
            <a:endParaRPr lang="en-US" sz="3000" dirty="0"/>
          </a:p>
        </p:txBody>
      </p:sp>
      <p:sp>
        <p:nvSpPr>
          <p:cNvPr id="3" name="carte-exigence-1"/>
          <p:cNvSpPr/>
          <p:nvPr/>
        </p:nvSpPr>
        <p:spPr>
          <a:xfrm>
            <a:off x="457200" y="1234440"/>
            <a:ext cx="4023360" cy="685800"/>
          </a:xfrm>
          <a:prstGeom prst="roundRect">
            <a:avLst>
              <a:gd name="adj" fmla="val 10667"/>
            </a:avLst>
          </a:prstGeom>
          <a:solidFill>
            <a:schemeClr val="bg2"/>
          </a:solidFill>
          <a:ln w="12700">
            <a:solidFill>
              <a:schemeClr val="bg2"/>
            </a:solidFill>
            <a:prstDash val="solid"/>
          </a:ln>
        </p:spPr>
      </p:sp>
      <p:sp>
        <p:nvSpPr>
          <p:cNvPr id="4" name="icone-exigence-1-cercle"/>
          <p:cNvSpPr/>
          <p:nvPr/>
        </p:nvSpPr>
        <p:spPr>
          <a:xfrm>
            <a:off x="594360" y="1348740"/>
            <a:ext cx="457200" cy="457200"/>
          </a:xfrm>
          <a:prstGeom prst="ellipse">
            <a:avLst/>
          </a:prstGeom>
          <a:solidFill>
            <a:srgbClr val="0F766E"/>
          </a:solidFill>
          <a:ln w="12700">
            <a:solidFill>
              <a:srgbClr val="0F766E"/>
            </a:solidFill>
            <a:prstDash val="solid"/>
          </a:ln>
        </p:spPr>
      </p:sp>
      <p:pic>
        <p:nvPicPr>
          <p:cNvPr id="5" name="icone-exigence-1" descr="icone-exigence-1">    </p:cNvPr>
          <p:cNvPicPr>
            <a:picLocks noChangeAspect="1"/>
          </p:cNvPicPr>
          <p:nvPr/>
        </p:nvPicPr>
        <p:blipFill>
          <a:blip r:embed="rId1"/>
          <a:stretch>
            <a:fillRect/>
          </a:stretch>
        </p:blipFill>
        <p:spPr>
          <a:xfrm>
            <a:off x="708660" y="1463040"/>
            <a:ext cx="228600" cy="228600"/>
          </a:xfrm>
          <a:prstGeom prst="rect">
            <a:avLst/>
          </a:prstGeom>
        </p:spPr>
      </p:pic>
      <p:sp>
        <p:nvSpPr>
          <p:cNvPr id="6" name="texte-exigence-1"/>
          <p:cNvSpPr txBox="1"/>
          <p:nvPr/>
        </p:nvSpPr>
        <p:spPr>
          <a:xfrm>
            <a:off x="1188720" y="1234440"/>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Clients fictifs dans MySQL</a:t>
            </a:r>
            <a:endParaRPr lang="en-US" sz="1400" dirty="0"/>
          </a:p>
        </p:txBody>
      </p:sp>
      <p:sp>
        <p:nvSpPr>
          <p:cNvPr id="7" name="carte-exigence-2"/>
          <p:cNvSpPr/>
          <p:nvPr/>
        </p:nvSpPr>
        <p:spPr>
          <a:xfrm>
            <a:off x="4663440" y="1234440"/>
            <a:ext cx="4023360" cy="685800"/>
          </a:xfrm>
          <a:prstGeom prst="roundRect">
            <a:avLst>
              <a:gd name="adj" fmla="val 10667"/>
            </a:avLst>
          </a:prstGeom>
          <a:solidFill>
            <a:schemeClr val="bg2"/>
          </a:solidFill>
          <a:ln w="12700">
            <a:solidFill>
              <a:schemeClr val="bg2"/>
            </a:solidFill>
            <a:prstDash val="solid"/>
          </a:ln>
        </p:spPr>
      </p:sp>
      <p:sp>
        <p:nvSpPr>
          <p:cNvPr id="8" name="icone-exigence-2-cercle"/>
          <p:cNvSpPr/>
          <p:nvPr/>
        </p:nvSpPr>
        <p:spPr>
          <a:xfrm>
            <a:off x="4800600" y="1348740"/>
            <a:ext cx="457200" cy="457200"/>
          </a:xfrm>
          <a:prstGeom prst="ellipse">
            <a:avLst/>
          </a:prstGeom>
          <a:solidFill>
            <a:srgbClr val="2563EB"/>
          </a:solidFill>
          <a:ln w="12700">
            <a:solidFill>
              <a:srgbClr val="2563EB"/>
            </a:solidFill>
            <a:prstDash val="solid"/>
          </a:ln>
        </p:spPr>
      </p:sp>
      <p:pic>
        <p:nvPicPr>
          <p:cNvPr id="9" name="icone-exigence-2" descr="icone-exigence-2">    </p:cNvPr>
          <p:cNvPicPr>
            <a:picLocks noChangeAspect="1"/>
          </p:cNvPicPr>
          <p:nvPr/>
        </p:nvPicPr>
        <p:blipFill>
          <a:blip r:embed="rId2"/>
          <a:stretch>
            <a:fillRect/>
          </a:stretch>
        </p:blipFill>
        <p:spPr>
          <a:xfrm>
            <a:off x="4914900" y="1463040"/>
            <a:ext cx="228600" cy="228600"/>
          </a:xfrm>
          <a:prstGeom prst="rect">
            <a:avLst/>
          </a:prstGeom>
        </p:spPr>
      </p:pic>
      <p:sp>
        <p:nvSpPr>
          <p:cNvPr id="10" name="texte-exigence-2"/>
          <p:cNvSpPr txBox="1"/>
          <p:nvPr/>
        </p:nvSpPr>
        <p:spPr>
          <a:xfrm>
            <a:off x="5394960" y="1234440"/>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Airflow : MySQL → MongoDB</a:t>
            </a:r>
            <a:endParaRPr lang="en-US" sz="1400" dirty="0"/>
          </a:p>
        </p:txBody>
      </p:sp>
      <p:sp>
        <p:nvSpPr>
          <p:cNvPr id="11" name="carte-exigence-3"/>
          <p:cNvSpPr/>
          <p:nvPr/>
        </p:nvSpPr>
        <p:spPr>
          <a:xfrm>
            <a:off x="457200" y="2075688"/>
            <a:ext cx="4023360" cy="685800"/>
          </a:xfrm>
          <a:prstGeom prst="roundRect">
            <a:avLst>
              <a:gd name="adj" fmla="val 10667"/>
            </a:avLst>
          </a:prstGeom>
          <a:solidFill>
            <a:schemeClr val="bg2"/>
          </a:solidFill>
          <a:ln w="12700">
            <a:solidFill>
              <a:schemeClr val="bg2"/>
            </a:solidFill>
            <a:prstDash val="solid"/>
          </a:ln>
        </p:spPr>
      </p:sp>
      <p:sp>
        <p:nvSpPr>
          <p:cNvPr id="12" name="icone-exigence-3-cercle"/>
          <p:cNvSpPr/>
          <p:nvPr/>
        </p:nvSpPr>
        <p:spPr>
          <a:xfrm>
            <a:off x="594360" y="2189988"/>
            <a:ext cx="457200" cy="457200"/>
          </a:xfrm>
          <a:prstGeom prst="ellipse">
            <a:avLst/>
          </a:prstGeom>
          <a:solidFill>
            <a:srgbClr val="0F766E"/>
          </a:solidFill>
          <a:ln w="12700">
            <a:solidFill>
              <a:srgbClr val="0F766E"/>
            </a:solidFill>
            <a:prstDash val="solid"/>
          </a:ln>
        </p:spPr>
      </p:sp>
      <p:pic>
        <p:nvPicPr>
          <p:cNvPr id="13" name="icone-exigence-3" descr="icone-exigence-3">    </p:cNvPr>
          <p:cNvPicPr>
            <a:picLocks noChangeAspect="1"/>
          </p:cNvPicPr>
          <p:nvPr/>
        </p:nvPicPr>
        <p:blipFill>
          <a:blip r:embed="rId3"/>
          <a:stretch>
            <a:fillRect/>
          </a:stretch>
        </p:blipFill>
        <p:spPr>
          <a:xfrm>
            <a:off x="708660" y="2304288"/>
            <a:ext cx="228600" cy="228600"/>
          </a:xfrm>
          <a:prstGeom prst="rect">
            <a:avLst/>
          </a:prstGeom>
        </p:spPr>
      </p:pic>
      <p:sp>
        <p:nvSpPr>
          <p:cNvPr id="14" name="texte-exigence-3"/>
          <p:cNvSpPr txBox="1"/>
          <p:nvPr/>
        </p:nvSpPr>
        <p:spPr>
          <a:xfrm>
            <a:off x="1188720" y="2075688"/>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Service SOAP Laravel (3 opérations)</a:t>
            </a:r>
            <a:endParaRPr lang="en-US" sz="1400" dirty="0"/>
          </a:p>
        </p:txBody>
      </p:sp>
      <p:sp>
        <p:nvSpPr>
          <p:cNvPr id="15" name="carte-exigence-4"/>
          <p:cNvSpPr/>
          <p:nvPr/>
        </p:nvSpPr>
        <p:spPr>
          <a:xfrm>
            <a:off x="4663440" y="2075688"/>
            <a:ext cx="4023360" cy="685800"/>
          </a:xfrm>
          <a:prstGeom prst="roundRect">
            <a:avLst>
              <a:gd name="adj" fmla="val 10667"/>
            </a:avLst>
          </a:prstGeom>
          <a:solidFill>
            <a:schemeClr val="bg2"/>
          </a:solidFill>
          <a:ln w="12700">
            <a:solidFill>
              <a:schemeClr val="bg2"/>
            </a:solidFill>
            <a:prstDash val="solid"/>
          </a:ln>
        </p:spPr>
      </p:sp>
      <p:sp>
        <p:nvSpPr>
          <p:cNvPr id="16" name="icone-exigence-4-cercle"/>
          <p:cNvSpPr/>
          <p:nvPr/>
        </p:nvSpPr>
        <p:spPr>
          <a:xfrm>
            <a:off x="4800600" y="2189988"/>
            <a:ext cx="457200" cy="457200"/>
          </a:xfrm>
          <a:prstGeom prst="ellipse">
            <a:avLst/>
          </a:prstGeom>
          <a:solidFill>
            <a:srgbClr val="2563EB"/>
          </a:solidFill>
          <a:ln w="12700">
            <a:solidFill>
              <a:srgbClr val="2563EB"/>
            </a:solidFill>
            <a:prstDash val="solid"/>
          </a:ln>
        </p:spPr>
      </p:sp>
      <p:pic>
        <p:nvPicPr>
          <p:cNvPr id="17" name="icone-exigence-4" descr="icone-exigence-4">    </p:cNvPr>
          <p:cNvPicPr>
            <a:picLocks noChangeAspect="1"/>
          </p:cNvPicPr>
          <p:nvPr/>
        </p:nvPicPr>
        <p:blipFill>
          <a:blip r:embed="rId4"/>
          <a:stretch>
            <a:fillRect/>
          </a:stretch>
        </p:blipFill>
        <p:spPr>
          <a:xfrm>
            <a:off x="4914900" y="2304288"/>
            <a:ext cx="228600" cy="228600"/>
          </a:xfrm>
          <a:prstGeom prst="rect">
            <a:avLst/>
          </a:prstGeom>
        </p:spPr>
      </p:pic>
      <p:sp>
        <p:nvSpPr>
          <p:cNvPr id="18" name="texte-exigence-4"/>
          <p:cNvSpPr txBox="1"/>
          <p:nvPr/>
        </p:nvSpPr>
        <p:spPr>
          <a:xfrm>
            <a:off x="5394960" y="2075688"/>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Documenter paramètres, réponses, Fault</a:t>
            </a:r>
            <a:endParaRPr lang="en-US" sz="1400" dirty="0"/>
          </a:p>
        </p:txBody>
      </p:sp>
      <p:sp>
        <p:nvSpPr>
          <p:cNvPr id="19" name="carte-exigence-5"/>
          <p:cNvSpPr/>
          <p:nvPr/>
        </p:nvSpPr>
        <p:spPr>
          <a:xfrm>
            <a:off x="457200" y="2916936"/>
            <a:ext cx="4023360" cy="685800"/>
          </a:xfrm>
          <a:prstGeom prst="roundRect">
            <a:avLst>
              <a:gd name="adj" fmla="val 10667"/>
            </a:avLst>
          </a:prstGeom>
          <a:solidFill>
            <a:schemeClr val="bg2"/>
          </a:solidFill>
          <a:ln w="12700">
            <a:solidFill>
              <a:schemeClr val="bg2"/>
            </a:solidFill>
            <a:prstDash val="solid"/>
          </a:ln>
        </p:spPr>
      </p:sp>
      <p:sp>
        <p:nvSpPr>
          <p:cNvPr id="20" name="icone-exigence-5-cercle"/>
          <p:cNvSpPr/>
          <p:nvPr/>
        </p:nvSpPr>
        <p:spPr>
          <a:xfrm>
            <a:off x="594360" y="3031236"/>
            <a:ext cx="457200" cy="457200"/>
          </a:xfrm>
          <a:prstGeom prst="ellipse">
            <a:avLst/>
          </a:prstGeom>
          <a:solidFill>
            <a:srgbClr val="C2410C"/>
          </a:solidFill>
          <a:ln w="12700">
            <a:solidFill>
              <a:srgbClr val="C2410C"/>
            </a:solidFill>
            <a:prstDash val="solid"/>
          </a:ln>
        </p:spPr>
      </p:sp>
      <p:pic>
        <p:nvPicPr>
          <p:cNvPr id="21" name="icone-exigence-5" descr="icone-exigence-5">    </p:cNvPr>
          <p:cNvPicPr>
            <a:picLocks noChangeAspect="1"/>
          </p:cNvPicPr>
          <p:nvPr/>
        </p:nvPicPr>
        <p:blipFill>
          <a:blip r:embed="rId5"/>
          <a:stretch>
            <a:fillRect/>
          </a:stretch>
        </p:blipFill>
        <p:spPr>
          <a:xfrm>
            <a:off x="708660" y="3145536"/>
            <a:ext cx="228600" cy="228600"/>
          </a:xfrm>
          <a:prstGeom prst="rect">
            <a:avLst/>
          </a:prstGeom>
        </p:spPr>
      </p:pic>
      <p:sp>
        <p:nvSpPr>
          <p:cNvPr id="22" name="texte-exigence-5"/>
          <p:cNvSpPr txBox="1"/>
          <p:nvPr/>
        </p:nvSpPr>
        <p:spPr>
          <a:xfrm>
            <a:off x="1188720" y="2916936"/>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MongoDB = base de référence</a:t>
            </a:r>
            <a:endParaRPr lang="en-US" sz="1400" dirty="0"/>
          </a:p>
        </p:txBody>
      </p:sp>
      <p:sp>
        <p:nvSpPr>
          <p:cNvPr id="23" name="carte-exigence-6"/>
          <p:cNvSpPr/>
          <p:nvPr/>
        </p:nvSpPr>
        <p:spPr>
          <a:xfrm>
            <a:off x="4663440" y="2916936"/>
            <a:ext cx="4023360" cy="685800"/>
          </a:xfrm>
          <a:prstGeom prst="roundRect">
            <a:avLst>
              <a:gd name="adj" fmla="val 10667"/>
            </a:avLst>
          </a:prstGeom>
          <a:solidFill>
            <a:schemeClr val="bg2"/>
          </a:solidFill>
          <a:ln w="12700">
            <a:solidFill>
              <a:schemeClr val="bg2"/>
            </a:solidFill>
            <a:prstDash val="solid"/>
          </a:ln>
        </p:spPr>
      </p:sp>
      <p:sp>
        <p:nvSpPr>
          <p:cNvPr id="24" name="icone-exigence-6-cercle"/>
          <p:cNvSpPr/>
          <p:nvPr/>
        </p:nvSpPr>
        <p:spPr>
          <a:xfrm>
            <a:off x="4800600" y="3031236"/>
            <a:ext cx="457200" cy="457200"/>
          </a:xfrm>
          <a:prstGeom prst="ellipse">
            <a:avLst/>
          </a:prstGeom>
          <a:solidFill>
            <a:srgbClr val="0F766E"/>
          </a:solidFill>
          <a:ln w="12700">
            <a:solidFill>
              <a:srgbClr val="0F766E"/>
            </a:solidFill>
            <a:prstDash val="solid"/>
          </a:ln>
        </p:spPr>
      </p:sp>
      <p:pic>
        <p:nvPicPr>
          <p:cNvPr id="25" name="icone-exigence-6" descr="icone-exigence-6">    </p:cNvPr>
          <p:cNvPicPr>
            <a:picLocks noChangeAspect="1"/>
          </p:cNvPicPr>
          <p:nvPr/>
        </p:nvPicPr>
        <p:blipFill>
          <a:blip r:embed="rId6"/>
          <a:stretch>
            <a:fillRect/>
          </a:stretch>
        </p:blipFill>
        <p:spPr>
          <a:xfrm>
            <a:off x="4914900" y="3145536"/>
            <a:ext cx="228600" cy="228600"/>
          </a:xfrm>
          <a:prstGeom prst="rect">
            <a:avLst/>
          </a:prstGeom>
        </p:spPr>
      </p:pic>
      <p:sp>
        <p:nvSpPr>
          <p:cNvPr id="26" name="texte-exigence-6"/>
          <p:cNvSpPr txBox="1"/>
          <p:nvPr/>
        </p:nvSpPr>
        <p:spPr>
          <a:xfrm>
            <a:off x="5394960" y="2916936"/>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Zabbix + tests des opérations</a:t>
            </a:r>
            <a:endParaRPr lang="en-US" sz="1400" dirty="0"/>
          </a:p>
        </p:txBody>
      </p:sp>
      <p:sp>
        <p:nvSpPr>
          <p:cNvPr id="27" name="carte-exigence-7"/>
          <p:cNvSpPr/>
          <p:nvPr/>
        </p:nvSpPr>
        <p:spPr>
          <a:xfrm>
            <a:off x="457200" y="3758184"/>
            <a:ext cx="4023360" cy="685800"/>
          </a:xfrm>
          <a:prstGeom prst="roundRect">
            <a:avLst>
              <a:gd name="adj" fmla="val 10667"/>
            </a:avLst>
          </a:prstGeom>
          <a:solidFill>
            <a:schemeClr val="bg2"/>
          </a:solidFill>
          <a:ln w="12700">
            <a:solidFill>
              <a:schemeClr val="bg2"/>
            </a:solidFill>
            <a:prstDash val="solid"/>
          </a:ln>
        </p:spPr>
      </p:sp>
      <p:sp>
        <p:nvSpPr>
          <p:cNvPr id="28" name="icone-exigence-7-cercle"/>
          <p:cNvSpPr/>
          <p:nvPr/>
        </p:nvSpPr>
        <p:spPr>
          <a:xfrm>
            <a:off x="594360" y="3872484"/>
            <a:ext cx="457200" cy="457200"/>
          </a:xfrm>
          <a:prstGeom prst="ellipse">
            <a:avLst/>
          </a:prstGeom>
          <a:solidFill>
            <a:srgbClr val="2563EB"/>
          </a:solidFill>
          <a:ln w="12700">
            <a:solidFill>
              <a:srgbClr val="2563EB"/>
            </a:solidFill>
            <a:prstDash val="solid"/>
          </a:ln>
        </p:spPr>
      </p:sp>
      <p:pic>
        <p:nvPicPr>
          <p:cNvPr id="29" name="icone-exigence-7" descr="icone-exigence-7">    </p:cNvPr>
          <p:cNvPicPr>
            <a:picLocks noChangeAspect="1"/>
          </p:cNvPicPr>
          <p:nvPr/>
        </p:nvPicPr>
        <p:blipFill>
          <a:blip r:embed="rId7"/>
          <a:stretch>
            <a:fillRect/>
          </a:stretch>
        </p:blipFill>
        <p:spPr>
          <a:xfrm>
            <a:off x="708660" y="3986784"/>
            <a:ext cx="228600" cy="228600"/>
          </a:xfrm>
          <a:prstGeom prst="rect">
            <a:avLst/>
          </a:prstGeom>
        </p:spPr>
      </p:pic>
      <p:sp>
        <p:nvSpPr>
          <p:cNvPr id="30" name="texte-exigence-7"/>
          <p:cNvSpPr txBox="1"/>
          <p:nvPr/>
        </p:nvSpPr>
        <p:spPr>
          <a:xfrm>
            <a:off x="1188720" y="3758184"/>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Réconciliation vers MySQL documentée</a:t>
            </a:r>
            <a:endParaRPr lang="en-US" sz="1400" dirty="0"/>
          </a:p>
        </p:txBody>
      </p:sp>
      <p:sp>
        <p:nvSpPr>
          <p:cNvPr id="31" name="carte-exigence-8"/>
          <p:cNvSpPr/>
          <p:nvPr/>
        </p:nvSpPr>
        <p:spPr>
          <a:xfrm>
            <a:off x="4663440" y="3758184"/>
            <a:ext cx="4023360" cy="685800"/>
          </a:xfrm>
          <a:prstGeom prst="roundRect">
            <a:avLst>
              <a:gd name="adj" fmla="val 10667"/>
            </a:avLst>
          </a:prstGeom>
          <a:solidFill>
            <a:schemeClr val="bg2"/>
          </a:solidFill>
          <a:ln w="12700">
            <a:solidFill>
              <a:schemeClr val="bg2"/>
            </a:solidFill>
            <a:prstDash val="solid"/>
          </a:ln>
        </p:spPr>
      </p:sp>
      <p:sp>
        <p:nvSpPr>
          <p:cNvPr id="32" name="icone-exigence-8-cercle"/>
          <p:cNvSpPr/>
          <p:nvPr/>
        </p:nvSpPr>
        <p:spPr>
          <a:xfrm>
            <a:off x="4800600" y="3872484"/>
            <a:ext cx="457200" cy="457200"/>
          </a:xfrm>
          <a:prstGeom prst="ellipse">
            <a:avLst/>
          </a:prstGeom>
          <a:solidFill>
            <a:srgbClr val="C2410C"/>
          </a:solidFill>
          <a:ln w="12700">
            <a:solidFill>
              <a:srgbClr val="C2410C"/>
            </a:solidFill>
            <a:prstDash val="solid"/>
          </a:ln>
        </p:spPr>
      </p:sp>
      <p:pic>
        <p:nvPicPr>
          <p:cNvPr id="33" name="icone-exigence-8" descr="icone-exigence-8">    </p:cNvPr>
          <p:cNvPicPr>
            <a:picLocks noChangeAspect="1"/>
          </p:cNvPicPr>
          <p:nvPr/>
        </p:nvPicPr>
        <p:blipFill>
          <a:blip r:embed="rId8"/>
          <a:stretch>
            <a:fillRect/>
          </a:stretch>
        </p:blipFill>
        <p:spPr>
          <a:xfrm>
            <a:off x="4914900" y="3986784"/>
            <a:ext cx="228600" cy="228600"/>
          </a:xfrm>
          <a:prstGeom prst="rect">
            <a:avLst/>
          </a:prstGeom>
        </p:spPr>
      </p:pic>
      <p:sp>
        <p:nvSpPr>
          <p:cNvPr id="34" name="texte-exigence-8"/>
          <p:cNvSpPr txBox="1"/>
          <p:nvPr/>
        </p:nvSpPr>
        <p:spPr>
          <a:xfrm>
            <a:off x="5394960" y="3758184"/>
            <a:ext cx="3154680" cy="685800"/>
          </a:xfrm>
          <a:prstGeom prst="rect">
            <a:avLst/>
          </a:prstGeom>
          <a:noFill/>
          <a:ln/>
        </p:spPr>
        <p:txBody>
          <a:bodyPr wrap="square" lIns="0" tIns="0" rIns="0" bIns="0" rtlCol="0" anchor="ctr"/>
          <a:lstStyle/>
          <a:p>
            <a:pPr indent="0" marL="0">
              <a:buNone/>
            </a:pPr>
            <a:r>
              <a:rPr lang="en-US" sz="1400" b="1" dirty="0">
                <a:solidFill>
                  <a:schemeClr val="tx1"/>
                </a:solidFill>
                <a:latin typeface="Calibri" pitchFamily="34" charset="0"/>
                <a:ea typeface="Calibri" pitchFamily="34" charset="-122"/>
                <a:cs typeface="Calibri" pitchFamily="34" charset="-120"/>
              </a:rPr>
              <a:t>Dépôt Git, README, Docker, PowerPoint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Architecture</a:t>
            </a:r>
            <a:endParaRPr lang="en-US" sz="3000" dirty="0"/>
          </a:p>
        </p:txBody>
      </p:sp>
      <p:sp>
        <p:nvSpPr>
          <p:cNvPr id="3" name="boite-MySQL 8"/>
          <p:cNvSpPr/>
          <p:nvPr/>
        </p:nvSpPr>
        <p:spPr>
          <a:xfrm>
            <a:off x="457200" y="1325880"/>
            <a:ext cx="1371600" cy="1143000"/>
          </a:xfrm>
          <a:prstGeom prst="roundRect">
            <a:avLst>
              <a:gd name="adj" fmla="val 8000"/>
            </a:avLst>
          </a:prstGeom>
          <a:solidFill>
            <a:schemeClr val="accent5"/>
          </a:solidFill>
          <a:ln w="12700">
            <a:solidFill>
              <a:schemeClr val="accent5"/>
            </a:solidFill>
            <a:prstDash val="solid"/>
          </a:ln>
        </p:spPr>
      </p:sp>
      <p:sp>
        <p:nvSpPr>
          <p:cNvPr id="4" name="Text 2"/>
          <p:cNvSpPr txBox="1"/>
          <p:nvPr/>
        </p:nvSpPr>
        <p:spPr>
          <a:xfrm>
            <a:off x="502920" y="1435608"/>
            <a:ext cx="1280160" cy="32004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MySQL 8</a:t>
            </a:r>
            <a:endParaRPr lang="en-US" sz="1500" dirty="0"/>
          </a:p>
        </p:txBody>
      </p:sp>
      <p:sp>
        <p:nvSpPr>
          <p:cNvPr id="5" name="Text 3"/>
          <p:cNvSpPr txBox="1"/>
          <p:nvPr/>
        </p:nvSpPr>
        <p:spPr>
          <a:xfrm>
            <a:off x="502920" y="1783080"/>
            <a:ext cx="1280160" cy="594360"/>
          </a:xfrm>
          <a:prstGeom prst="rect">
            <a:avLst/>
          </a:prstGeom>
          <a:noFill/>
          <a:ln/>
        </p:spPr>
        <p:txBody>
          <a:bodyPr wrap="square" lIns="0" tIns="0" rIns="0" bIns="0" rtlCol="0" anchor="ctr"/>
          <a:lstStyle/>
          <a:p>
            <a:pPr algn="ctr" indent="0" marL="0">
              <a:buNone/>
            </a:pPr>
            <a:r>
              <a:rPr lang="en-US" sz="1100" dirty="0">
                <a:solidFill>
                  <a:schemeClr val="bg1"/>
                </a:solidFill>
                <a:latin typeface="Calibri" pitchFamily="34" charset="0"/>
                <a:ea typeface="Calibri" pitchFamily="34" charset="-122"/>
                <a:cs typeface="Calibri" pitchFamily="34" charset="-120"/>
              </a:rPr>
              <a:t>Source</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208 clients fictifs</a:t>
            </a:r>
            <a:endParaRPr lang="en-US" sz="1100" dirty="0"/>
          </a:p>
        </p:txBody>
      </p:sp>
      <p:sp>
        <p:nvSpPr>
          <p:cNvPr id="6" name="boite-Airflow"/>
          <p:cNvSpPr/>
          <p:nvPr/>
        </p:nvSpPr>
        <p:spPr>
          <a:xfrm>
            <a:off x="2171700" y="1325880"/>
            <a:ext cx="1371600" cy="1143000"/>
          </a:xfrm>
          <a:prstGeom prst="roundRect">
            <a:avLst>
              <a:gd name="adj" fmla="val 8000"/>
            </a:avLst>
          </a:prstGeom>
          <a:solidFill>
            <a:schemeClr val="accent3"/>
          </a:solidFill>
          <a:ln w="12700">
            <a:solidFill>
              <a:schemeClr val="accent3"/>
            </a:solidFill>
            <a:prstDash val="solid"/>
          </a:ln>
        </p:spPr>
      </p:sp>
      <p:sp>
        <p:nvSpPr>
          <p:cNvPr id="7" name="Text 5"/>
          <p:cNvSpPr txBox="1"/>
          <p:nvPr/>
        </p:nvSpPr>
        <p:spPr>
          <a:xfrm>
            <a:off x="2217420" y="1435608"/>
            <a:ext cx="1280160" cy="32004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Airflow</a:t>
            </a:r>
            <a:endParaRPr lang="en-US" sz="1500" dirty="0"/>
          </a:p>
        </p:txBody>
      </p:sp>
      <p:sp>
        <p:nvSpPr>
          <p:cNvPr id="8" name="Text 6"/>
          <p:cNvSpPr txBox="1"/>
          <p:nvPr/>
        </p:nvSpPr>
        <p:spPr>
          <a:xfrm>
            <a:off x="2217420" y="1783080"/>
            <a:ext cx="1280160" cy="594360"/>
          </a:xfrm>
          <a:prstGeom prst="rect">
            <a:avLst/>
          </a:prstGeom>
          <a:noFill/>
          <a:ln/>
        </p:spPr>
        <p:txBody>
          <a:bodyPr wrap="square" lIns="0" tIns="0" rIns="0" bIns="0" rtlCol="0" anchor="ctr"/>
          <a:lstStyle/>
          <a:p>
            <a:pPr algn="ctr" indent="0" marL="0">
              <a:buNone/>
            </a:pPr>
            <a:r>
              <a:rPr lang="en-US" sz="1100" dirty="0">
                <a:solidFill>
                  <a:schemeClr val="bg1"/>
                </a:solidFill>
                <a:latin typeface="Calibri" pitchFamily="34" charset="0"/>
                <a:ea typeface="Calibri" pitchFamily="34" charset="-122"/>
                <a:cs typeface="Calibri" pitchFamily="34" charset="-120"/>
              </a:rPr>
              <a:t>DAG 1 : vers Mongo</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DAG 2 : vers MySQL</a:t>
            </a:r>
            <a:endParaRPr lang="en-US" sz="1100" dirty="0"/>
          </a:p>
        </p:txBody>
      </p:sp>
      <p:sp>
        <p:nvSpPr>
          <p:cNvPr id="9" name="boite-MongoDB 7"/>
          <p:cNvSpPr/>
          <p:nvPr/>
        </p:nvSpPr>
        <p:spPr>
          <a:xfrm>
            <a:off x="3886200" y="1325880"/>
            <a:ext cx="1371600" cy="1143000"/>
          </a:xfrm>
          <a:prstGeom prst="roundRect">
            <a:avLst>
              <a:gd name="adj" fmla="val 8000"/>
            </a:avLst>
          </a:prstGeom>
          <a:solidFill>
            <a:schemeClr val="accent2"/>
          </a:solidFill>
          <a:ln w="12700">
            <a:solidFill>
              <a:schemeClr val="accent2"/>
            </a:solidFill>
            <a:prstDash val="solid"/>
          </a:ln>
        </p:spPr>
      </p:sp>
      <p:sp>
        <p:nvSpPr>
          <p:cNvPr id="10" name="Text 8"/>
          <p:cNvSpPr txBox="1"/>
          <p:nvPr/>
        </p:nvSpPr>
        <p:spPr>
          <a:xfrm>
            <a:off x="3931920" y="1435608"/>
            <a:ext cx="1280160" cy="320040"/>
          </a:xfrm>
          <a:prstGeom prst="rect">
            <a:avLst/>
          </a:prstGeom>
          <a:no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MongoDB 7</a:t>
            </a:r>
            <a:endParaRPr lang="en-US" sz="1500" dirty="0"/>
          </a:p>
        </p:txBody>
      </p:sp>
      <p:sp>
        <p:nvSpPr>
          <p:cNvPr id="11" name="Text 9"/>
          <p:cNvSpPr txBox="1"/>
          <p:nvPr/>
        </p:nvSpPr>
        <p:spPr>
          <a:xfrm>
            <a:off x="3931920" y="1783080"/>
            <a:ext cx="1280160" cy="594360"/>
          </a:xfrm>
          <a:prstGeom prst="rect">
            <a:avLst/>
          </a:prstGeom>
          <a:noFill/>
          <a:ln/>
        </p:spPr>
        <p:txBody>
          <a:bodyPr wrap="square" lIns="0" tIns="0" rIns="0" bIns="0" rtlCol="0" anchor="ctr"/>
          <a:lstStyle/>
          <a:p>
            <a:pPr algn="ctr" indent="0" marL="0">
              <a:buNone/>
            </a:pPr>
            <a:r>
              <a:rPr lang="en-US" sz="1100" dirty="0">
                <a:solidFill>
                  <a:schemeClr val="tx1"/>
                </a:solidFill>
                <a:latin typeface="Calibri" pitchFamily="34" charset="0"/>
                <a:ea typeface="Calibri" pitchFamily="34" charset="-122"/>
                <a:cs typeface="Calibri" pitchFamily="34" charset="-120"/>
              </a:rPr>
              <a:t>BASE DE</a:t>
            </a:r>
            <a:endParaRPr lang="en-US" sz="1100" dirty="0"/>
          </a:p>
          <a:p>
            <a:pPr algn="ctr" indent="0" marL="0">
              <a:buNone/>
            </a:pPr>
            <a:r>
              <a:rPr lang="en-US" sz="1100" dirty="0">
                <a:solidFill>
                  <a:schemeClr val="tx1"/>
                </a:solidFill>
                <a:latin typeface="Calibri" pitchFamily="34" charset="0"/>
                <a:ea typeface="Calibri" pitchFamily="34" charset="-122"/>
                <a:cs typeface="Calibri" pitchFamily="34" charset="-120"/>
              </a:rPr>
              <a:t>RÉFÉRENCE</a:t>
            </a:r>
            <a:endParaRPr lang="en-US" sz="1100" dirty="0"/>
          </a:p>
        </p:txBody>
      </p:sp>
      <p:sp>
        <p:nvSpPr>
          <p:cNvPr id="12" name="boite-Laravel 12"/>
          <p:cNvSpPr/>
          <p:nvPr/>
        </p:nvSpPr>
        <p:spPr>
          <a:xfrm>
            <a:off x="5600700" y="1325880"/>
            <a:ext cx="1371600" cy="1143000"/>
          </a:xfrm>
          <a:prstGeom prst="roundRect">
            <a:avLst>
              <a:gd name="adj" fmla="val 8000"/>
            </a:avLst>
          </a:prstGeom>
          <a:solidFill>
            <a:schemeClr val="accent1"/>
          </a:solidFill>
          <a:ln w="12700">
            <a:solidFill>
              <a:schemeClr val="accent1"/>
            </a:solidFill>
            <a:prstDash val="solid"/>
          </a:ln>
        </p:spPr>
      </p:sp>
      <p:sp>
        <p:nvSpPr>
          <p:cNvPr id="13" name="Text 11"/>
          <p:cNvSpPr txBox="1"/>
          <p:nvPr/>
        </p:nvSpPr>
        <p:spPr>
          <a:xfrm>
            <a:off x="5646420" y="1435608"/>
            <a:ext cx="1280160" cy="32004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Laravel 12</a:t>
            </a:r>
            <a:endParaRPr lang="en-US" sz="1500" dirty="0"/>
          </a:p>
        </p:txBody>
      </p:sp>
      <p:sp>
        <p:nvSpPr>
          <p:cNvPr id="14" name="Text 12"/>
          <p:cNvSpPr txBox="1"/>
          <p:nvPr/>
        </p:nvSpPr>
        <p:spPr>
          <a:xfrm>
            <a:off x="5646420" y="1783080"/>
            <a:ext cx="1280160" cy="594360"/>
          </a:xfrm>
          <a:prstGeom prst="rect">
            <a:avLst/>
          </a:prstGeom>
          <a:noFill/>
          <a:ln/>
        </p:spPr>
        <p:txBody>
          <a:bodyPr wrap="square" lIns="0" tIns="0" rIns="0" bIns="0" rtlCol="0" anchor="ctr"/>
          <a:lstStyle/>
          <a:p>
            <a:pPr algn="ctr" indent="0" marL="0">
              <a:buNone/>
            </a:pPr>
            <a:r>
              <a:rPr lang="en-US" sz="1100" dirty="0">
                <a:solidFill>
                  <a:schemeClr val="bg1"/>
                </a:solidFill>
                <a:latin typeface="Calibri" pitchFamily="34" charset="0"/>
                <a:ea typeface="Calibri" pitchFamily="34" charset="-122"/>
                <a:cs typeface="Calibri" pitchFamily="34" charset="-120"/>
              </a:rPr>
              <a:t>Service SOAP</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/soap/clients</a:t>
            </a:r>
            <a:endParaRPr lang="en-US" sz="1100" dirty="0"/>
          </a:p>
        </p:txBody>
      </p:sp>
      <p:sp>
        <p:nvSpPr>
          <p:cNvPr id="15" name="boite-Client SOAP"/>
          <p:cNvSpPr/>
          <p:nvPr/>
        </p:nvSpPr>
        <p:spPr>
          <a:xfrm>
            <a:off x="7315200" y="1325880"/>
            <a:ext cx="1371600" cy="1143000"/>
          </a:xfrm>
          <a:prstGeom prst="roundRect">
            <a:avLst>
              <a:gd name="adj" fmla="val 8000"/>
            </a:avLst>
          </a:prstGeom>
          <a:solidFill>
            <a:schemeClr val="accent5"/>
          </a:solidFill>
          <a:ln w="12700">
            <a:solidFill>
              <a:schemeClr val="accent5"/>
            </a:solidFill>
            <a:prstDash val="solid"/>
          </a:ln>
        </p:spPr>
      </p:sp>
      <p:sp>
        <p:nvSpPr>
          <p:cNvPr id="16" name="Text 14"/>
          <p:cNvSpPr txBox="1"/>
          <p:nvPr/>
        </p:nvSpPr>
        <p:spPr>
          <a:xfrm>
            <a:off x="7360920" y="1435608"/>
            <a:ext cx="1280160" cy="32004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Client SOAP</a:t>
            </a:r>
            <a:endParaRPr lang="en-US" sz="1500" dirty="0"/>
          </a:p>
        </p:txBody>
      </p:sp>
      <p:sp>
        <p:nvSpPr>
          <p:cNvPr id="17" name="Text 15"/>
          <p:cNvSpPr txBox="1"/>
          <p:nvPr/>
        </p:nvSpPr>
        <p:spPr>
          <a:xfrm>
            <a:off x="7360920" y="1783080"/>
            <a:ext cx="1280160" cy="594360"/>
          </a:xfrm>
          <a:prstGeom prst="rect">
            <a:avLst/>
          </a:prstGeom>
          <a:noFill/>
          <a:ln/>
        </p:spPr>
        <p:txBody>
          <a:bodyPr wrap="square" lIns="0" tIns="0" rIns="0" bIns="0" rtlCol="0" anchor="ctr"/>
          <a:lstStyle/>
          <a:p>
            <a:pPr algn="ctr" indent="0" marL="0">
              <a:buNone/>
            </a:pPr>
            <a:r>
              <a:rPr lang="en-US" sz="1100" dirty="0">
                <a:solidFill>
                  <a:schemeClr val="bg1"/>
                </a:solidFill>
                <a:latin typeface="Calibri" pitchFamily="34" charset="0"/>
                <a:ea typeface="Calibri" pitchFamily="34" charset="-122"/>
                <a:cs typeface="Calibri" pitchFamily="34" charset="-120"/>
              </a:rPr>
              <a:t>SoapUI,</a:t>
            </a:r>
            <a:endParaRPr lang="en-US" sz="1100" dirty="0"/>
          </a:p>
          <a:p>
            <a:pPr algn="ctr" indent="0" marL="0">
              <a:buNone/>
            </a:pPr>
            <a:r>
              <a:rPr lang="en-US" sz="1100" dirty="0">
                <a:solidFill>
                  <a:schemeClr val="bg1"/>
                </a:solidFill>
                <a:latin typeface="Calibri" pitchFamily="34" charset="0"/>
                <a:ea typeface="Calibri" pitchFamily="34" charset="-122"/>
                <a:cs typeface="Calibri" pitchFamily="34" charset="-120"/>
              </a:rPr>
              <a:t>applications</a:t>
            </a:r>
            <a:endParaRPr lang="en-US" sz="1100" dirty="0"/>
          </a:p>
        </p:txBody>
      </p:sp>
      <p:sp>
        <p:nvSpPr>
          <p:cNvPr id="18" name="fleche-mysql-airflow"/>
          <p:cNvSpPr/>
          <p:nvPr/>
        </p:nvSpPr>
        <p:spPr>
          <a:xfrm>
            <a:off x="1856232" y="1897380"/>
            <a:ext cx="288036" cy="0"/>
          </a:xfrm>
          <a:prstGeom prst="line">
            <a:avLst/>
          </a:prstGeom>
          <a:noFill/>
          <a:ln w="25400">
            <a:solidFill>
              <a:schemeClr val="tx2"/>
            </a:solidFill>
            <a:prstDash val="solid"/>
            <a:tailEnd type="triangle"/>
          </a:ln>
        </p:spPr>
      </p:sp>
      <p:sp>
        <p:nvSpPr>
          <p:cNvPr id="19" name="fleche-airflow-mongo"/>
          <p:cNvSpPr/>
          <p:nvPr/>
        </p:nvSpPr>
        <p:spPr>
          <a:xfrm>
            <a:off x="3570732" y="1897380"/>
            <a:ext cx="288036" cy="0"/>
          </a:xfrm>
          <a:prstGeom prst="line">
            <a:avLst/>
          </a:prstGeom>
          <a:noFill/>
          <a:ln w="25400">
            <a:solidFill>
              <a:schemeClr val="tx2"/>
            </a:solidFill>
            <a:prstDash val="solid"/>
            <a:tailEnd type="triangle"/>
          </a:ln>
        </p:spPr>
      </p:sp>
      <p:sp>
        <p:nvSpPr>
          <p:cNvPr id="20" name="fleche-laravel-mongo"/>
          <p:cNvSpPr/>
          <p:nvPr/>
        </p:nvSpPr>
        <p:spPr>
          <a:xfrm flipH="1">
            <a:off x="5285232" y="1897380"/>
            <a:ext cx="288036" cy="0"/>
          </a:xfrm>
          <a:prstGeom prst="line">
            <a:avLst/>
          </a:prstGeom>
          <a:noFill/>
          <a:ln w="25400">
            <a:solidFill>
              <a:schemeClr val="tx2"/>
            </a:solidFill>
            <a:prstDash val="solid"/>
            <a:tailEnd type="triangle"/>
          </a:ln>
        </p:spPr>
      </p:sp>
      <p:sp>
        <p:nvSpPr>
          <p:cNvPr id="21" name="fleche-client-laravel"/>
          <p:cNvSpPr/>
          <p:nvPr/>
        </p:nvSpPr>
        <p:spPr>
          <a:xfrm flipH="1">
            <a:off x="6999732" y="1897380"/>
            <a:ext cx="288036" cy="0"/>
          </a:xfrm>
          <a:prstGeom prst="line">
            <a:avLst/>
          </a:prstGeom>
          <a:noFill/>
          <a:ln w="25400">
            <a:solidFill>
              <a:schemeClr val="tx2"/>
            </a:solidFill>
            <a:prstDash val="solid"/>
            <a:tailEnd type="triangle"/>
          </a:ln>
        </p:spPr>
      </p:sp>
      <p:sp>
        <p:nvSpPr>
          <p:cNvPr id="22" name="Text 20"/>
          <p:cNvSpPr txBox="1"/>
          <p:nvPr/>
        </p:nvSpPr>
        <p:spPr>
          <a:xfrm>
            <a:off x="457200" y="2542032"/>
            <a:ext cx="402336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lecture · contrôle · upsert idempotent</a:t>
            </a:r>
            <a:endParaRPr lang="en-US" sz="1100" dirty="0"/>
          </a:p>
        </p:txBody>
      </p:sp>
      <p:sp>
        <p:nvSpPr>
          <p:cNvPr id="23" name="Text 21"/>
          <p:cNvSpPr txBox="1"/>
          <p:nvPr/>
        </p:nvSpPr>
        <p:spPr>
          <a:xfrm>
            <a:off x="4846320" y="2542032"/>
            <a:ext cx="3840480" cy="274320"/>
          </a:xfrm>
          <a:prstGeom prst="rect">
            <a:avLst/>
          </a:prstGeom>
          <a:noFill/>
          <a:ln/>
        </p:spPr>
        <p:txBody>
          <a:bodyPr wrap="square" lIns="0" tIns="0" rIns="0" bIns="0" rtlCol="0" anchor="ctr"/>
          <a:lstStyle/>
          <a:p>
            <a:pPr algn="ctr" indent="0" marL="0">
              <a:buNone/>
            </a:pPr>
            <a:r>
              <a:rPr lang="en-US" sz="1100" dirty="0">
                <a:solidFill>
                  <a:schemeClr val="accent5"/>
                </a:solidFill>
                <a:latin typeface="Calibri" pitchFamily="34" charset="0"/>
                <a:ea typeface="Calibri" pitchFamily="34" charset="-122"/>
                <a:cs typeface="Calibri" pitchFamily="34" charset="-120"/>
              </a:rPr>
              <a:t>SOAP 1.1 / WSDL · lecture/écriture Mongo</a:t>
            </a:r>
            <a:endParaRPr lang="en-US" sz="1100" dirty="0"/>
          </a:p>
        </p:txBody>
      </p:sp>
      <p:sp>
        <p:nvSpPr>
          <p:cNvPr id="24" name="bandeau-zabbix"/>
          <p:cNvSpPr/>
          <p:nvPr/>
        </p:nvSpPr>
        <p:spPr>
          <a:xfrm>
            <a:off x="457200" y="3154680"/>
            <a:ext cx="8229600" cy="685800"/>
          </a:xfrm>
          <a:prstGeom prst="roundRect">
            <a:avLst>
              <a:gd name="adj" fmla="val 10667"/>
            </a:avLst>
          </a:prstGeom>
          <a:solidFill>
            <a:schemeClr val="tx2"/>
          </a:solidFill>
          <a:ln w="12700">
            <a:solidFill>
              <a:schemeClr val="tx2"/>
            </a:solidFill>
            <a:prstDash val="solid"/>
          </a:ln>
        </p:spPr>
      </p:sp>
      <p:sp>
        <p:nvSpPr>
          <p:cNvPr id="25" name="icone-zabbix-cercle"/>
          <p:cNvSpPr/>
          <p:nvPr/>
        </p:nvSpPr>
        <p:spPr>
          <a:xfrm>
            <a:off x="640080" y="3268980"/>
            <a:ext cx="457200" cy="457200"/>
          </a:xfrm>
          <a:prstGeom prst="ellipse">
            <a:avLst/>
          </a:prstGeom>
          <a:solidFill>
            <a:srgbClr val="F2A900"/>
          </a:solidFill>
          <a:ln w="12700">
            <a:solidFill>
              <a:srgbClr val="F2A900"/>
            </a:solidFill>
            <a:prstDash val="solid"/>
          </a:ln>
        </p:spPr>
      </p:sp>
      <p:pic>
        <p:nvPicPr>
          <p:cNvPr id="26" name="icone-zabbix" descr="icone-zabbix">    </p:cNvPr>
          <p:cNvPicPr>
            <a:picLocks noChangeAspect="1"/>
          </p:cNvPicPr>
          <p:nvPr/>
        </p:nvPicPr>
        <p:blipFill>
          <a:blip r:embed="rId1"/>
          <a:stretch>
            <a:fillRect/>
          </a:stretch>
        </p:blipFill>
        <p:spPr>
          <a:xfrm>
            <a:off x="754380" y="3383280"/>
            <a:ext cx="228600" cy="228600"/>
          </a:xfrm>
          <a:prstGeom prst="rect">
            <a:avLst/>
          </a:prstGeom>
        </p:spPr>
      </p:pic>
      <p:sp>
        <p:nvSpPr>
          <p:cNvPr id="27" name="Text 24"/>
          <p:cNvSpPr txBox="1"/>
          <p:nvPr/>
        </p:nvSpPr>
        <p:spPr>
          <a:xfrm>
            <a:off x="1280160" y="3200400"/>
            <a:ext cx="4572000" cy="365760"/>
          </a:xfrm>
          <a:prstGeom prst="rect">
            <a:avLst/>
          </a:prstGeom>
          <a:noFill/>
          <a:ln/>
        </p:spPr>
        <p:txBody>
          <a:bodyPr wrap="square" lIns="0" tIns="0" rIns="0" bIns="0" rtlCol="0" anchor="ctr"/>
          <a:lstStyle/>
          <a:p>
            <a:pPr indent="0" marL="0">
              <a:buNone/>
            </a:pPr>
            <a:r>
              <a:rPr lang="en-US" sz="1500" b="1" dirty="0">
                <a:solidFill>
                  <a:schemeClr val="bg1"/>
                </a:solidFill>
                <a:latin typeface="Calibri" pitchFamily="34" charset="0"/>
                <a:ea typeface="Calibri" pitchFamily="34" charset="-122"/>
                <a:cs typeface="Calibri" pitchFamily="34" charset="-120"/>
              </a:rPr>
              <a:t>Zabbix 7.0 : serveur + web + agent 2</a:t>
            </a:r>
            <a:endParaRPr lang="en-US" sz="1500" dirty="0"/>
          </a:p>
        </p:txBody>
      </p:sp>
      <p:sp>
        <p:nvSpPr>
          <p:cNvPr id="28" name="Text 25"/>
          <p:cNvSpPr txBox="1"/>
          <p:nvPr/>
        </p:nvSpPr>
        <p:spPr>
          <a:xfrm>
            <a:off x="1280160" y="3547872"/>
            <a:ext cx="7132320" cy="256032"/>
          </a:xfrm>
          <a:prstGeom prst="rect">
            <a:avLst/>
          </a:prstGeom>
          <a:noFill/>
          <a:ln/>
        </p:spPr>
        <p:txBody>
          <a:bodyPr wrap="square" lIns="0" tIns="0" rIns="0" bIns="0" rtlCol="0" anchor="ctr"/>
          <a:lstStyle/>
          <a:p>
            <a:pPr indent="0" marL="0">
              <a:buNone/>
            </a:pPr>
            <a:r>
              <a:rPr lang="en-US" sz="1200" dirty="0">
                <a:solidFill>
                  <a:schemeClr val="bg2"/>
                </a:solidFill>
                <a:latin typeface="Calibri" pitchFamily="34" charset="0"/>
                <a:ea typeface="Calibri" pitchFamily="34" charset="-122"/>
                <a:cs typeface="Calibri" pitchFamily="34" charset="-120"/>
              </a:rPr>
              <a:t>agent HTTP : /health (30 s) · /monitoring/stats (1 min)</a:t>
            </a:r>
            <a:endParaRPr lang="en-US" sz="1200" dirty="0"/>
          </a:p>
        </p:txBody>
      </p:sp>
      <p:sp>
        <p:nvSpPr>
          <p:cNvPr id="29" name="Text 26"/>
          <p:cNvSpPr txBox="1"/>
          <p:nvPr/>
        </p:nvSpPr>
        <p:spPr>
          <a:xfrm>
            <a:off x="457200" y="4114800"/>
            <a:ext cx="7772400" cy="320040"/>
          </a:xfrm>
          <a:prstGeom prst="rect">
            <a:avLst/>
          </a:prstGeom>
          <a:noFill/>
          <a:ln/>
        </p:spPr>
        <p:txBody>
          <a:bodyPr wrap="square" lIns="0" tIns="0" rIns="0" bIns="0" rtlCol="0" anchor="ctr"/>
          <a:lstStyle/>
          <a:p>
            <a:pPr indent="0" marL="0">
              <a:buNone/>
            </a:pPr>
            <a:r>
              <a:rPr lang="en-US" sz="1400" i="1" dirty="0">
                <a:solidFill>
                  <a:schemeClr val="tx2"/>
                </a:solidFill>
                <a:latin typeface="Calibri" pitchFamily="34" charset="0"/>
                <a:ea typeface="Calibri" pitchFamily="34" charset="-122"/>
                <a:cs typeface="Calibri" pitchFamily="34" charset="-120"/>
              </a:rPr>
              <a:t>11 conteneurs, un seul `docker compose up -d --build`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Données fictives et qualité</a:t>
            </a:r>
            <a:endParaRPr lang="en-US" sz="3000" dirty="0"/>
          </a:p>
        </p:txBody>
      </p:sp>
      <p:sp>
        <p:nvSpPr>
          <p:cNvPr id="3" name="carte-chiffre-1"/>
          <p:cNvSpPr/>
          <p:nvPr/>
        </p:nvSpPr>
        <p:spPr>
          <a:xfrm>
            <a:off x="457200" y="1188720"/>
            <a:ext cx="2560320" cy="1417320"/>
          </a:xfrm>
          <a:prstGeom prst="roundRect">
            <a:avLst>
              <a:gd name="adj" fmla="val 6452"/>
            </a:avLst>
          </a:prstGeom>
          <a:solidFill>
            <a:schemeClr val="bg2"/>
          </a:solidFill>
          <a:ln w="12700">
            <a:solidFill>
              <a:schemeClr val="bg2"/>
            </a:solidFill>
            <a:prstDash val="solid"/>
          </a:ln>
        </p:spPr>
      </p:sp>
      <p:sp>
        <p:nvSpPr>
          <p:cNvPr id="4" name="Text 2"/>
          <p:cNvSpPr txBox="1"/>
          <p:nvPr/>
        </p:nvSpPr>
        <p:spPr>
          <a:xfrm>
            <a:off x="457200" y="1280160"/>
            <a:ext cx="2560320" cy="868680"/>
          </a:xfrm>
          <a:prstGeom prst="rect">
            <a:avLst/>
          </a:prstGeom>
          <a:noFill/>
          <a:ln/>
        </p:spPr>
        <p:txBody>
          <a:bodyPr wrap="square" lIns="0" tIns="0" rIns="0" bIns="0" rtlCol="0" anchor="ctr"/>
          <a:lstStyle/>
          <a:p>
            <a:pPr algn="ctr" indent="0" marL="0">
              <a:buNone/>
            </a:pPr>
            <a:r>
              <a:rPr lang="en-US" sz="5400" b="1" dirty="0">
                <a:solidFill>
                  <a:schemeClr val="accent5"/>
                </a:solidFill>
                <a:latin typeface="Cambria" pitchFamily="34" charset="0"/>
                <a:ea typeface="Cambria" pitchFamily="34" charset="-122"/>
                <a:cs typeface="Cambria" pitchFamily="34" charset="-120"/>
              </a:rPr>
              <a:t>208</a:t>
            </a:r>
            <a:endParaRPr lang="en-US" sz="5400" dirty="0"/>
          </a:p>
        </p:txBody>
      </p:sp>
      <p:sp>
        <p:nvSpPr>
          <p:cNvPr id="5" name="Text 3"/>
          <p:cNvSpPr txBox="1"/>
          <p:nvPr/>
        </p:nvSpPr>
        <p:spPr>
          <a:xfrm>
            <a:off x="548640" y="2103120"/>
            <a:ext cx="2377440" cy="41148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lignes dans MySQL</a:t>
            </a:r>
            <a:endParaRPr lang="en-US" sz="1400" dirty="0"/>
          </a:p>
        </p:txBody>
      </p:sp>
      <p:sp>
        <p:nvSpPr>
          <p:cNvPr id="6" name="carte-chiffre-2"/>
          <p:cNvSpPr/>
          <p:nvPr/>
        </p:nvSpPr>
        <p:spPr>
          <a:xfrm>
            <a:off x="3291840" y="1188720"/>
            <a:ext cx="2560320" cy="1417320"/>
          </a:xfrm>
          <a:prstGeom prst="roundRect">
            <a:avLst>
              <a:gd name="adj" fmla="val 6452"/>
            </a:avLst>
          </a:prstGeom>
          <a:solidFill>
            <a:schemeClr val="bg2"/>
          </a:solidFill>
          <a:ln w="12700">
            <a:solidFill>
              <a:schemeClr val="bg2"/>
            </a:solidFill>
            <a:prstDash val="solid"/>
          </a:ln>
        </p:spPr>
      </p:sp>
      <p:sp>
        <p:nvSpPr>
          <p:cNvPr id="7" name="Text 5"/>
          <p:cNvSpPr txBox="1"/>
          <p:nvPr/>
        </p:nvSpPr>
        <p:spPr>
          <a:xfrm>
            <a:off x="3291840" y="1280160"/>
            <a:ext cx="2560320" cy="868680"/>
          </a:xfrm>
          <a:prstGeom prst="rect">
            <a:avLst/>
          </a:prstGeom>
          <a:noFill/>
          <a:ln/>
        </p:spPr>
        <p:txBody>
          <a:bodyPr wrap="square" lIns="0" tIns="0" rIns="0" bIns="0" rtlCol="0" anchor="ctr"/>
          <a:lstStyle/>
          <a:p>
            <a:pPr algn="ctr" indent="0" marL="0">
              <a:buNone/>
            </a:pPr>
            <a:r>
              <a:rPr lang="en-US" sz="5400" b="1" dirty="0">
                <a:solidFill>
                  <a:schemeClr val="accent6"/>
                </a:solidFill>
                <a:latin typeface="Cambria" pitchFamily="34" charset="0"/>
                <a:ea typeface="Cambria" pitchFamily="34" charset="-122"/>
                <a:cs typeface="Cambria" pitchFamily="34" charset="-120"/>
              </a:rPr>
              <a:t>201</a:t>
            </a:r>
            <a:endParaRPr lang="en-US" sz="5400" dirty="0"/>
          </a:p>
        </p:txBody>
      </p:sp>
      <p:sp>
        <p:nvSpPr>
          <p:cNvPr id="8" name="Text 6"/>
          <p:cNvSpPr txBox="1"/>
          <p:nvPr/>
        </p:nvSpPr>
        <p:spPr>
          <a:xfrm>
            <a:off x="3383280" y="2103120"/>
            <a:ext cx="2377440" cy="41148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clients chargés dans MongoDB</a:t>
            </a:r>
            <a:endParaRPr lang="en-US" sz="1400" dirty="0"/>
          </a:p>
        </p:txBody>
      </p:sp>
      <p:sp>
        <p:nvSpPr>
          <p:cNvPr id="9" name="carte-chiffre-3"/>
          <p:cNvSpPr/>
          <p:nvPr/>
        </p:nvSpPr>
        <p:spPr>
          <a:xfrm>
            <a:off x="6126480" y="1188720"/>
            <a:ext cx="2560320" cy="1417320"/>
          </a:xfrm>
          <a:prstGeom prst="roundRect">
            <a:avLst>
              <a:gd name="adj" fmla="val 6452"/>
            </a:avLst>
          </a:prstGeom>
          <a:solidFill>
            <a:schemeClr val="bg2"/>
          </a:solidFill>
          <a:ln w="12700">
            <a:solidFill>
              <a:schemeClr val="bg2"/>
            </a:solidFill>
            <a:prstDash val="solid"/>
          </a:ln>
        </p:spPr>
      </p:sp>
      <p:sp>
        <p:nvSpPr>
          <p:cNvPr id="10" name="Text 8"/>
          <p:cNvSpPr txBox="1"/>
          <p:nvPr/>
        </p:nvSpPr>
        <p:spPr>
          <a:xfrm>
            <a:off x="6126480" y="1280160"/>
            <a:ext cx="2560320" cy="868680"/>
          </a:xfrm>
          <a:prstGeom prst="rect">
            <a:avLst/>
          </a:prstGeom>
          <a:noFill/>
          <a:ln/>
        </p:spPr>
        <p:txBody>
          <a:bodyPr wrap="square" lIns="0" tIns="0" rIns="0" bIns="0" rtlCol="0" anchor="ctr"/>
          <a:lstStyle/>
          <a:p>
            <a:pPr algn="ctr" indent="0" marL="0">
              <a:buNone/>
            </a:pPr>
            <a:r>
              <a:rPr lang="en-US" sz="5400" b="1" dirty="0">
                <a:solidFill>
                  <a:schemeClr val="accent4"/>
                </a:solidFill>
                <a:latin typeface="Cambria" pitchFamily="34" charset="0"/>
                <a:ea typeface="Cambria" pitchFamily="34" charset="-122"/>
                <a:cs typeface="Cambria" pitchFamily="34" charset="-120"/>
              </a:rPr>
              <a:t>7</a:t>
            </a:r>
            <a:endParaRPr lang="en-US" sz="5400" dirty="0"/>
          </a:p>
        </p:txBody>
      </p:sp>
      <p:sp>
        <p:nvSpPr>
          <p:cNvPr id="11" name="Text 9"/>
          <p:cNvSpPr txBox="1"/>
          <p:nvPr/>
        </p:nvSpPr>
        <p:spPr>
          <a:xfrm>
            <a:off x="6217920" y="2103120"/>
            <a:ext cx="2377440" cy="411480"/>
          </a:xfrm>
          <a:prstGeom prst="rect">
            <a:avLst/>
          </a:prstGeom>
          <a:noFill/>
          <a:ln/>
        </p:spPr>
        <p:txBody>
          <a:bodyPr wrap="square" lIns="0" tIns="0" rIns="0" bIns="0"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rejetés à dessein</a:t>
            </a:r>
            <a:endParaRPr lang="en-US" sz="1400" dirty="0"/>
          </a:p>
        </p:txBody>
      </p:sp>
      <p:graphicFrame>
        <p:nvGraphicFramePr>
          <p:cNvPr id="5" name="tableau-rejets"/>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914400"/>
        </p:xfrm>
        <a:graphic>
          <a:graphicData uri="http://schemas.openxmlformats.org/drawingml/2006/table">
            <a:tbl>
              <a:tblPr/>
              <a:tblGrid>
                <a:gridCol w="2011680"/>
                <a:gridCol w="2743200"/>
                <a:gridCol w="3474720"/>
              </a:tblGrid>
              <a:tr h="310896">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Lignes</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Défaut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Motif tracé (clients_rejected)</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r>
              <a:tr h="310896">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CLI-000201/202</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e-mail invalide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email_invalide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10896">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CLI-000203/204</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téléphone invalide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telephone_invalide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10896">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CLI-000205</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nom avec chiffre (K0NE)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nom_invalide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10896">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CLI-000206/207</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nom ou prénom vide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nom_manquant / prenom_manquant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Airflow : chargement idempotent</a:t>
            </a:r>
            <a:endParaRPr lang="en-US" sz="3000" dirty="0"/>
          </a:p>
        </p:txBody>
      </p:sp>
      <p:sp>
        <p:nvSpPr>
          <p:cNvPr id="3" name="etape-1"/>
          <p:cNvSpPr/>
          <p:nvPr/>
        </p:nvSpPr>
        <p:spPr>
          <a:xfrm>
            <a:off x="457200" y="1188720"/>
            <a:ext cx="2560320" cy="1188720"/>
          </a:xfrm>
          <a:prstGeom prst="roundRect">
            <a:avLst>
              <a:gd name="adj" fmla="val 7692"/>
            </a:avLst>
          </a:prstGeom>
          <a:solidFill>
            <a:schemeClr val="bg2"/>
          </a:solidFill>
          <a:ln w="12700">
            <a:solidFill>
              <a:schemeClr val="bg2"/>
            </a:solidFill>
            <a:prstDash val="solid"/>
          </a:ln>
        </p:spPr>
      </p:sp>
      <p:sp>
        <p:nvSpPr>
          <p:cNvPr id="4" name="icone-etape-1-cercle"/>
          <p:cNvSpPr/>
          <p:nvPr/>
        </p:nvSpPr>
        <p:spPr>
          <a:xfrm>
            <a:off x="594360" y="1325880"/>
            <a:ext cx="457200" cy="457200"/>
          </a:xfrm>
          <a:prstGeom prst="ellipse">
            <a:avLst/>
          </a:prstGeom>
          <a:solidFill>
            <a:srgbClr val="64767F"/>
          </a:solidFill>
          <a:ln w="12700">
            <a:solidFill>
              <a:srgbClr val="64767F"/>
            </a:solidFill>
            <a:prstDash val="solid"/>
          </a:ln>
        </p:spPr>
      </p:sp>
      <p:pic>
        <p:nvPicPr>
          <p:cNvPr id="5" name="icone-etape-1" descr="icone-etape-1">    </p:cNvPr>
          <p:cNvPicPr>
            <a:picLocks noChangeAspect="1"/>
          </p:cNvPicPr>
          <p:nvPr/>
        </p:nvPicPr>
        <p:blipFill>
          <a:blip r:embed="rId1"/>
          <a:stretch>
            <a:fillRect/>
          </a:stretch>
        </p:blipFill>
        <p:spPr>
          <a:xfrm>
            <a:off x="708660" y="1440180"/>
            <a:ext cx="228600" cy="228600"/>
          </a:xfrm>
          <a:prstGeom prst="rect">
            <a:avLst/>
          </a:prstGeom>
        </p:spPr>
      </p:pic>
      <p:sp>
        <p:nvSpPr>
          <p:cNvPr id="6" name="Text 3"/>
          <p:cNvSpPr txBox="1"/>
          <p:nvPr/>
        </p:nvSpPr>
        <p:spPr>
          <a:xfrm>
            <a:off x="1188720" y="1325880"/>
            <a:ext cx="1737360"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1 · Extraire</a:t>
            </a:r>
            <a:endParaRPr lang="en-US" sz="1600" dirty="0"/>
          </a:p>
        </p:txBody>
      </p:sp>
      <p:sp>
        <p:nvSpPr>
          <p:cNvPr id="7" name="Text 4"/>
          <p:cNvSpPr txBox="1"/>
          <p:nvPr/>
        </p:nvSpPr>
        <p:spPr>
          <a:xfrm>
            <a:off x="594360" y="1874520"/>
            <a:ext cx="233172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SELECT sur MySQL</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(dates en ISO)</a:t>
            </a:r>
            <a:endParaRPr lang="en-US" sz="1200" dirty="0"/>
          </a:p>
        </p:txBody>
      </p:sp>
      <p:sp>
        <p:nvSpPr>
          <p:cNvPr id="8" name="chevron-1"/>
          <p:cNvSpPr/>
          <p:nvPr/>
        </p:nvSpPr>
        <p:spPr>
          <a:xfrm>
            <a:off x="3044952" y="1664208"/>
            <a:ext cx="219456" cy="237744"/>
          </a:xfrm>
          <a:prstGeom prst="rightArrow">
            <a:avLst/>
          </a:prstGeom>
          <a:solidFill>
            <a:schemeClr val="accent2"/>
          </a:solidFill>
          <a:ln w="12700">
            <a:solidFill>
              <a:schemeClr val="accent2"/>
            </a:solidFill>
            <a:prstDash val="solid"/>
          </a:ln>
        </p:spPr>
      </p:sp>
      <p:sp>
        <p:nvSpPr>
          <p:cNvPr id="9" name="etape-2"/>
          <p:cNvSpPr/>
          <p:nvPr/>
        </p:nvSpPr>
        <p:spPr>
          <a:xfrm>
            <a:off x="3291840" y="1188720"/>
            <a:ext cx="2560320" cy="1188720"/>
          </a:xfrm>
          <a:prstGeom prst="roundRect">
            <a:avLst>
              <a:gd name="adj" fmla="val 7692"/>
            </a:avLst>
          </a:prstGeom>
          <a:solidFill>
            <a:schemeClr val="bg2"/>
          </a:solidFill>
          <a:ln w="12700">
            <a:solidFill>
              <a:schemeClr val="bg2"/>
            </a:solidFill>
            <a:prstDash val="solid"/>
          </a:ln>
        </p:spPr>
      </p:sp>
      <p:sp>
        <p:nvSpPr>
          <p:cNvPr id="10" name="icone-etape-2-cercle"/>
          <p:cNvSpPr/>
          <p:nvPr/>
        </p:nvSpPr>
        <p:spPr>
          <a:xfrm>
            <a:off x="3429000" y="1325880"/>
            <a:ext cx="457200" cy="457200"/>
          </a:xfrm>
          <a:prstGeom prst="ellipse">
            <a:avLst/>
          </a:prstGeom>
          <a:solidFill>
            <a:srgbClr val="2563EB"/>
          </a:solidFill>
          <a:ln w="12700">
            <a:solidFill>
              <a:srgbClr val="2563EB"/>
            </a:solidFill>
            <a:prstDash val="solid"/>
          </a:ln>
        </p:spPr>
      </p:sp>
      <p:pic>
        <p:nvPicPr>
          <p:cNvPr id="11" name="icone-etape-2" descr="icone-etape-2">    </p:cNvPr>
          <p:cNvPicPr>
            <a:picLocks noChangeAspect="1"/>
          </p:cNvPicPr>
          <p:nvPr/>
        </p:nvPicPr>
        <p:blipFill>
          <a:blip r:embed="rId2"/>
          <a:stretch>
            <a:fillRect/>
          </a:stretch>
        </p:blipFill>
        <p:spPr>
          <a:xfrm>
            <a:off x="3543300" y="1440180"/>
            <a:ext cx="228600" cy="228600"/>
          </a:xfrm>
          <a:prstGeom prst="rect">
            <a:avLst/>
          </a:prstGeom>
        </p:spPr>
      </p:pic>
      <p:sp>
        <p:nvSpPr>
          <p:cNvPr id="12" name="Text 8"/>
          <p:cNvSpPr txBox="1"/>
          <p:nvPr/>
        </p:nvSpPr>
        <p:spPr>
          <a:xfrm>
            <a:off x="4023360" y="1325880"/>
            <a:ext cx="1737360"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2 · Contrôler</a:t>
            </a:r>
            <a:endParaRPr lang="en-US" sz="1600" dirty="0"/>
          </a:p>
        </p:txBody>
      </p:sp>
      <p:sp>
        <p:nvSpPr>
          <p:cNvPr id="13" name="Text 9"/>
          <p:cNvSpPr txBox="1"/>
          <p:nvPr/>
        </p:nvSpPr>
        <p:spPr>
          <a:xfrm>
            <a:off x="3429000" y="1874520"/>
            <a:ext cx="233172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8 règles de qualité</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normalisation</a:t>
            </a:r>
            <a:endParaRPr lang="en-US" sz="1200" dirty="0"/>
          </a:p>
        </p:txBody>
      </p:sp>
      <p:sp>
        <p:nvSpPr>
          <p:cNvPr id="14" name="chevron-2"/>
          <p:cNvSpPr/>
          <p:nvPr/>
        </p:nvSpPr>
        <p:spPr>
          <a:xfrm>
            <a:off x="5879592" y="1664208"/>
            <a:ext cx="219456" cy="237744"/>
          </a:xfrm>
          <a:prstGeom prst="rightArrow">
            <a:avLst/>
          </a:prstGeom>
          <a:solidFill>
            <a:schemeClr val="accent2"/>
          </a:solidFill>
          <a:ln w="12700">
            <a:solidFill>
              <a:schemeClr val="accent2"/>
            </a:solidFill>
            <a:prstDash val="solid"/>
          </a:ln>
        </p:spPr>
      </p:sp>
      <p:sp>
        <p:nvSpPr>
          <p:cNvPr id="15" name="etape-3"/>
          <p:cNvSpPr/>
          <p:nvPr/>
        </p:nvSpPr>
        <p:spPr>
          <a:xfrm>
            <a:off x="6126480" y="1188720"/>
            <a:ext cx="2560320" cy="1188720"/>
          </a:xfrm>
          <a:prstGeom prst="roundRect">
            <a:avLst>
              <a:gd name="adj" fmla="val 7692"/>
            </a:avLst>
          </a:prstGeom>
          <a:solidFill>
            <a:schemeClr val="bg2"/>
          </a:solidFill>
          <a:ln w="12700">
            <a:solidFill>
              <a:schemeClr val="bg2"/>
            </a:solidFill>
            <a:prstDash val="solid"/>
          </a:ln>
        </p:spPr>
      </p:sp>
      <p:sp>
        <p:nvSpPr>
          <p:cNvPr id="16" name="icone-etape-3-cercle"/>
          <p:cNvSpPr/>
          <p:nvPr/>
        </p:nvSpPr>
        <p:spPr>
          <a:xfrm>
            <a:off x="6263640" y="1325880"/>
            <a:ext cx="457200" cy="457200"/>
          </a:xfrm>
          <a:prstGeom prst="ellipse">
            <a:avLst/>
          </a:prstGeom>
          <a:solidFill>
            <a:srgbClr val="0F766E"/>
          </a:solidFill>
          <a:ln w="12700">
            <a:solidFill>
              <a:srgbClr val="0F766E"/>
            </a:solidFill>
            <a:prstDash val="solid"/>
          </a:ln>
        </p:spPr>
      </p:sp>
      <p:pic>
        <p:nvPicPr>
          <p:cNvPr id="17" name="icone-etape-3" descr="icone-etape-3">    </p:cNvPr>
          <p:cNvPicPr>
            <a:picLocks noChangeAspect="1"/>
          </p:cNvPicPr>
          <p:nvPr/>
        </p:nvPicPr>
        <p:blipFill>
          <a:blip r:embed="rId3"/>
          <a:stretch>
            <a:fillRect/>
          </a:stretch>
        </p:blipFill>
        <p:spPr>
          <a:xfrm>
            <a:off x="6377940" y="1440180"/>
            <a:ext cx="228600" cy="228600"/>
          </a:xfrm>
          <a:prstGeom prst="rect">
            <a:avLst/>
          </a:prstGeom>
        </p:spPr>
      </p:pic>
      <p:sp>
        <p:nvSpPr>
          <p:cNvPr id="18" name="Text 13"/>
          <p:cNvSpPr txBox="1"/>
          <p:nvPr/>
        </p:nvSpPr>
        <p:spPr>
          <a:xfrm>
            <a:off x="6858000" y="1325880"/>
            <a:ext cx="1737360"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3 · Charger</a:t>
            </a:r>
            <a:endParaRPr lang="en-US" sz="1600" dirty="0"/>
          </a:p>
        </p:txBody>
      </p:sp>
      <p:sp>
        <p:nvSpPr>
          <p:cNvPr id="19" name="Text 14"/>
          <p:cNvSpPr txBox="1"/>
          <p:nvPr/>
        </p:nvSpPr>
        <p:spPr>
          <a:xfrm>
            <a:off x="6263640" y="1874520"/>
            <a:ext cx="2331720" cy="45720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upsert MongoDB</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bilan etl_runs</a:t>
            </a:r>
            <a:endParaRPr lang="en-US" sz="1200" dirty="0"/>
          </a:p>
        </p:txBody>
      </p:sp>
      <p:graphicFrame>
        <p:nvGraphicFramePr>
          <p:cNvPr id="6" name="tableau-regles-chargement"/>
          <p:cNvGraphicFramePr>
            <a:graphicFrameLocks noGrp="1"/>
          </p:cNvGraphicFramePr>
          <p:nvPr>
            <p:extLst>
              <p:ext uri="{D42A27DB-BD31-4B8C-83A1-F6EECF244321}">
                <p14:modId xmlns:p14="http://schemas.microsoft.com/office/powerpoint/2010/main" val="1579011935"/>
              </p:ext>
            </p:extLst>
          </p:nvPr>
        </p:nvGraphicFramePr>
        <p:xfrm>
          <a:off x="457200" y="2743200"/>
          <a:ext cx="8229600" cy="914400"/>
        </p:xfrm>
        <a:graphic>
          <a:graphicData uri="http://schemas.openxmlformats.org/drawingml/2006/table">
            <a:tbl>
              <a:tblPr/>
              <a:tblGrid>
                <a:gridCol w="2377440"/>
                <a:gridCol w="5852160"/>
              </a:tblGrid>
              <a:tr h="329184">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Cas rencontré</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Décision du DAG 1</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r>
              <a:tr h="32918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Client nouveau</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insertion, version = 1, sync_status = synced</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2918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Source modifiée</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mise à jour + version + 1</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2918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Source identique</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aucune écriture : la version ne bouge pas</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29184">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Modifié côté Mongo</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jamais écrasé (Mongo = référence)</a:t>
                      </a:r>
                      <a:endParaRPr lang="en-US" sz="13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bl>
          </a:graphicData>
        </a:graphic>
      </p:graphicFrame>
      <p:sp>
        <p:nvSpPr>
          <p:cNvPr id="21" name="Text 15"/>
          <p:cNvSpPr txBox="1"/>
          <p:nvPr/>
        </p:nvSpPr>
        <p:spPr>
          <a:xfrm>
            <a:off x="457200" y="4389120"/>
            <a:ext cx="7772400" cy="274320"/>
          </a:xfrm>
          <a:prstGeom prst="rect">
            <a:avLst/>
          </a:prstGeom>
          <a:noFill/>
          <a:ln/>
        </p:spPr>
        <p:txBody>
          <a:bodyPr wrap="square" lIns="0" tIns="0" rIns="0" bIns="0" rtlCol="0" anchor="ctr"/>
          <a:lstStyle/>
          <a:p>
            <a:pPr indent="0" marL="0">
              <a:buNone/>
            </a:pPr>
            <a:r>
              <a:rPr lang="en-US" sz="1300" i="1" dirty="0">
                <a:solidFill>
                  <a:schemeClr val="accent1"/>
                </a:solidFill>
                <a:latin typeface="Calibri" pitchFamily="34" charset="0"/>
                <a:ea typeface="Calibri" pitchFamily="34" charset="-122"/>
                <a:cs typeface="Calibri" pitchFamily="34" charset="-120"/>
              </a:rPr>
              <a:t>Relancer le DAG : 0 insertion, 0 mise à jour, 201 inchangés.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MongoDB : base de référence</a:t>
            </a:r>
            <a:endParaRPr lang="en-US" sz="3000" dirty="0"/>
          </a:p>
        </p:txBody>
      </p:sp>
      <p:sp>
        <p:nvSpPr>
          <p:cNvPr id="3" name="ligne-collection-clients"/>
          <p:cNvSpPr/>
          <p:nvPr/>
        </p:nvSpPr>
        <p:spPr>
          <a:xfrm>
            <a:off x="457200" y="1188720"/>
            <a:ext cx="8229600" cy="530352"/>
          </a:xfrm>
          <a:prstGeom prst="roundRect">
            <a:avLst>
              <a:gd name="adj" fmla="val 10345"/>
            </a:avLst>
          </a:prstGeom>
          <a:solidFill>
            <a:schemeClr val="accent2"/>
          </a:solidFill>
          <a:ln w="12700">
            <a:solidFill>
              <a:schemeClr val="bg2"/>
            </a:solidFill>
            <a:prstDash val="solid"/>
          </a:ln>
        </p:spPr>
      </p:sp>
      <p:sp>
        <p:nvSpPr>
          <p:cNvPr id="4" name="Text 2"/>
          <p:cNvSpPr txBox="1"/>
          <p:nvPr/>
        </p:nvSpPr>
        <p:spPr>
          <a:xfrm>
            <a:off x="640080" y="1188720"/>
            <a:ext cx="2194560" cy="53035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clients</a:t>
            </a:r>
            <a:endParaRPr lang="en-US" sz="1400" dirty="0"/>
          </a:p>
        </p:txBody>
      </p:sp>
      <p:sp>
        <p:nvSpPr>
          <p:cNvPr id="5" name="Text 3"/>
          <p:cNvSpPr txBox="1"/>
          <p:nvPr/>
        </p:nvSpPr>
        <p:spPr>
          <a:xfrm>
            <a:off x="2926080" y="1188720"/>
            <a:ext cx="5577840" cy="530352"/>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Référence. JSON Schema strict, index uniques (code, e-mail), version, drapeaux de synchronisation</a:t>
            </a:r>
            <a:endParaRPr lang="en-US" sz="1250" dirty="0"/>
          </a:p>
        </p:txBody>
      </p:sp>
      <p:sp>
        <p:nvSpPr>
          <p:cNvPr id="6" name="ligne-collection-clients_rejected"/>
          <p:cNvSpPr/>
          <p:nvPr/>
        </p:nvSpPr>
        <p:spPr>
          <a:xfrm>
            <a:off x="457200" y="1828800"/>
            <a:ext cx="8229600" cy="530352"/>
          </a:xfrm>
          <a:prstGeom prst="roundRect">
            <a:avLst>
              <a:gd name="adj" fmla="val 10345"/>
            </a:avLst>
          </a:prstGeom>
          <a:solidFill>
            <a:schemeClr val="bg2"/>
          </a:solidFill>
          <a:ln w="12700">
            <a:solidFill>
              <a:schemeClr val="bg2"/>
            </a:solidFill>
            <a:prstDash val="solid"/>
          </a:ln>
        </p:spPr>
      </p:sp>
      <p:sp>
        <p:nvSpPr>
          <p:cNvPr id="7" name="Text 5"/>
          <p:cNvSpPr txBox="1"/>
          <p:nvPr/>
        </p:nvSpPr>
        <p:spPr>
          <a:xfrm>
            <a:off x="640080" y="1828800"/>
            <a:ext cx="2194560" cy="53035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clients_rejected</a:t>
            </a:r>
            <a:endParaRPr lang="en-US" sz="1400" dirty="0"/>
          </a:p>
        </p:txBody>
      </p:sp>
      <p:sp>
        <p:nvSpPr>
          <p:cNvPr id="8" name="Text 6"/>
          <p:cNvSpPr txBox="1"/>
          <p:nvPr/>
        </p:nvSpPr>
        <p:spPr>
          <a:xfrm>
            <a:off x="2926080" y="1828800"/>
            <a:ext cx="5577840" cy="530352"/>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Lignes refusées par le contrôle qualité, avec motifs</a:t>
            </a:r>
            <a:endParaRPr lang="en-US" sz="1250" dirty="0"/>
          </a:p>
        </p:txBody>
      </p:sp>
      <p:sp>
        <p:nvSpPr>
          <p:cNvPr id="9" name="ligne-collection-etl_runs"/>
          <p:cNvSpPr/>
          <p:nvPr/>
        </p:nvSpPr>
        <p:spPr>
          <a:xfrm>
            <a:off x="457200" y="2468880"/>
            <a:ext cx="8229600" cy="530352"/>
          </a:xfrm>
          <a:prstGeom prst="roundRect">
            <a:avLst>
              <a:gd name="adj" fmla="val 10345"/>
            </a:avLst>
          </a:prstGeom>
          <a:solidFill>
            <a:schemeClr val="bg2"/>
          </a:solidFill>
          <a:ln w="12700">
            <a:solidFill>
              <a:schemeClr val="bg2"/>
            </a:solidFill>
            <a:prstDash val="solid"/>
          </a:ln>
        </p:spPr>
      </p:sp>
      <p:sp>
        <p:nvSpPr>
          <p:cNvPr id="10" name="Text 8"/>
          <p:cNvSpPr txBox="1"/>
          <p:nvPr/>
        </p:nvSpPr>
        <p:spPr>
          <a:xfrm>
            <a:off x="640080" y="2468880"/>
            <a:ext cx="2194560" cy="53035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etl_runs</a:t>
            </a:r>
            <a:endParaRPr lang="en-US" sz="1400" dirty="0"/>
          </a:p>
        </p:txBody>
      </p:sp>
      <p:sp>
        <p:nvSpPr>
          <p:cNvPr id="11" name="Text 9"/>
          <p:cNvSpPr txBox="1"/>
          <p:nvPr/>
        </p:nvSpPr>
        <p:spPr>
          <a:xfrm>
            <a:off x="2926080" y="2468880"/>
            <a:ext cx="5577840" cy="530352"/>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Bilan de chaque exécution : extraits, insérés, mis à jour, rejetés</a:t>
            </a:r>
            <a:endParaRPr lang="en-US" sz="1250" dirty="0"/>
          </a:p>
        </p:txBody>
      </p:sp>
      <p:sp>
        <p:nvSpPr>
          <p:cNvPr id="12" name="ligne-collection-reconciliation_log"/>
          <p:cNvSpPr/>
          <p:nvPr/>
        </p:nvSpPr>
        <p:spPr>
          <a:xfrm>
            <a:off x="457200" y="3108960"/>
            <a:ext cx="8229600" cy="530352"/>
          </a:xfrm>
          <a:prstGeom prst="roundRect">
            <a:avLst>
              <a:gd name="adj" fmla="val 10345"/>
            </a:avLst>
          </a:prstGeom>
          <a:solidFill>
            <a:schemeClr val="bg2"/>
          </a:solidFill>
          <a:ln w="12700">
            <a:solidFill>
              <a:schemeClr val="bg2"/>
            </a:solidFill>
            <a:prstDash val="solid"/>
          </a:ln>
        </p:spPr>
      </p:sp>
      <p:sp>
        <p:nvSpPr>
          <p:cNvPr id="13" name="Text 11"/>
          <p:cNvSpPr txBox="1"/>
          <p:nvPr/>
        </p:nvSpPr>
        <p:spPr>
          <a:xfrm>
            <a:off x="640080" y="3108960"/>
            <a:ext cx="2194560" cy="53035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reconciliation_log</a:t>
            </a:r>
            <a:endParaRPr lang="en-US" sz="1400" dirty="0"/>
          </a:p>
        </p:txBody>
      </p:sp>
      <p:sp>
        <p:nvSpPr>
          <p:cNvPr id="14" name="Text 12"/>
          <p:cNvSpPr txBox="1"/>
          <p:nvPr/>
        </p:nvSpPr>
        <p:spPr>
          <a:xfrm>
            <a:off x="2926080" y="3108960"/>
            <a:ext cx="5577840" cy="530352"/>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Décisions du DAG 2, dont les lignes MySQL écrasées</a:t>
            </a:r>
            <a:endParaRPr lang="en-US" sz="1250" dirty="0"/>
          </a:p>
        </p:txBody>
      </p:sp>
      <p:sp>
        <p:nvSpPr>
          <p:cNvPr id="15" name="ligne-collection-soap_calls"/>
          <p:cNvSpPr/>
          <p:nvPr/>
        </p:nvSpPr>
        <p:spPr>
          <a:xfrm>
            <a:off x="457200" y="3749040"/>
            <a:ext cx="8229600" cy="530352"/>
          </a:xfrm>
          <a:prstGeom prst="roundRect">
            <a:avLst>
              <a:gd name="adj" fmla="val 10345"/>
            </a:avLst>
          </a:prstGeom>
          <a:solidFill>
            <a:schemeClr val="bg2"/>
          </a:solidFill>
          <a:ln w="12700">
            <a:solidFill>
              <a:schemeClr val="bg2"/>
            </a:solidFill>
            <a:prstDash val="solid"/>
          </a:ln>
        </p:spPr>
      </p:sp>
      <p:sp>
        <p:nvSpPr>
          <p:cNvPr id="16" name="Text 14"/>
          <p:cNvSpPr txBox="1"/>
          <p:nvPr/>
        </p:nvSpPr>
        <p:spPr>
          <a:xfrm>
            <a:off x="640080" y="3749040"/>
            <a:ext cx="2194560" cy="530352"/>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soap_calls</a:t>
            </a:r>
            <a:endParaRPr lang="en-US" sz="1400" dirty="0"/>
          </a:p>
        </p:txBody>
      </p:sp>
      <p:sp>
        <p:nvSpPr>
          <p:cNvPr id="17" name="Text 15"/>
          <p:cNvSpPr txBox="1"/>
          <p:nvPr/>
        </p:nvSpPr>
        <p:spPr>
          <a:xfrm>
            <a:off x="2926080" y="3749040"/>
            <a:ext cx="5577840" cy="530352"/>
          </a:xfrm>
          <a:prstGeom prst="rect">
            <a:avLst/>
          </a:prstGeom>
          <a:noFill/>
          <a:ln/>
        </p:spPr>
        <p:txBody>
          <a:bodyPr wrap="square" lIns="0" tIns="0" rIns="0" bIns="0" rtlCol="0" anchor="ctr"/>
          <a:lstStyle/>
          <a:p>
            <a:pPr indent="0" marL="0">
              <a:buNone/>
            </a:pPr>
            <a:r>
              <a:rPr lang="en-US" sz="1250" dirty="0">
                <a:solidFill>
                  <a:schemeClr val="tx1"/>
                </a:solidFill>
                <a:latin typeface="Calibri" pitchFamily="34" charset="0"/>
                <a:ea typeface="Calibri" pitchFamily="34" charset="-122"/>
                <a:cs typeface="Calibri" pitchFamily="34" charset="-120"/>
              </a:rPr>
              <a:t>Appels SOAP pour la supervision, purge TTL à 7 jours</a:t>
            </a:r>
            <a:endParaRPr lang="en-US" sz="12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Le service SOAP</a:t>
            </a:r>
            <a:endParaRPr lang="en-US" sz="3000" dirty="0"/>
          </a:p>
        </p:txBody>
      </p:sp>
      <p:sp>
        <p:nvSpPr>
          <p:cNvPr id="3" name="carte-operation-getClientDetails"/>
          <p:cNvSpPr/>
          <p:nvPr/>
        </p:nvSpPr>
        <p:spPr>
          <a:xfrm>
            <a:off x="457200" y="1188720"/>
            <a:ext cx="2560320" cy="2331720"/>
          </a:xfrm>
          <a:prstGeom prst="roundRect">
            <a:avLst>
              <a:gd name="adj" fmla="val 3922"/>
            </a:avLst>
          </a:prstGeom>
          <a:solidFill>
            <a:schemeClr val="bg2"/>
          </a:solidFill>
          <a:ln w="12700">
            <a:solidFill>
              <a:schemeClr val="bg2"/>
            </a:solidFill>
            <a:prstDash val="solid"/>
          </a:ln>
        </p:spPr>
      </p:sp>
      <p:sp>
        <p:nvSpPr>
          <p:cNvPr id="4" name="icone-getClientDetails-cercle"/>
          <p:cNvSpPr/>
          <p:nvPr/>
        </p:nvSpPr>
        <p:spPr>
          <a:xfrm>
            <a:off x="640080" y="1371600"/>
            <a:ext cx="502920" cy="502920"/>
          </a:xfrm>
          <a:prstGeom prst="ellipse">
            <a:avLst/>
          </a:prstGeom>
          <a:solidFill>
            <a:srgbClr val="0F766E"/>
          </a:solidFill>
          <a:ln w="12700">
            <a:solidFill>
              <a:srgbClr val="0F766E"/>
            </a:solidFill>
            <a:prstDash val="solid"/>
          </a:ln>
        </p:spPr>
      </p:sp>
      <p:pic>
        <p:nvPicPr>
          <p:cNvPr id="5" name="icone-getClientDetails" descr="icone-getClientDetails">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640080" y="1965960"/>
            <a:ext cx="22860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getClientDetails</a:t>
            </a:r>
            <a:endParaRPr lang="en-US" sz="1600" dirty="0"/>
          </a:p>
        </p:txBody>
      </p:sp>
      <p:sp>
        <p:nvSpPr>
          <p:cNvPr id="7" name="Text 4"/>
          <p:cNvSpPr txBox="1"/>
          <p:nvPr/>
        </p:nvSpPr>
        <p:spPr>
          <a:xfrm>
            <a:off x="640080" y="2331720"/>
            <a:ext cx="2286000"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Un client par son code</a:t>
            </a:r>
            <a:endParaRPr lang="en-US" sz="1300" dirty="0"/>
          </a:p>
        </p:txBody>
      </p:sp>
      <p:sp>
        <p:nvSpPr>
          <p:cNvPr id="8" name="Text 5"/>
          <p:cNvSpPr txBox="1"/>
          <p:nvPr/>
        </p:nvSpPr>
        <p:spPr>
          <a:xfrm>
            <a:off x="640080" y="2697480"/>
            <a:ext cx="2286000" cy="68580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entrée : codeClient</a:t>
            </a:r>
            <a:endParaRPr lang="en-US" sz="1200" dirty="0"/>
          </a:p>
          <a:p>
            <a:pPr indent="0" marL="0">
              <a:buNone/>
            </a:pPr>
            <a:r>
              <a:rPr lang="en-US" sz="1200" dirty="0">
                <a:solidFill>
                  <a:schemeClr val="accent5"/>
                </a:solidFill>
                <a:latin typeface="Calibri" pitchFamily="34" charset="0"/>
                <a:ea typeface="Calibri" pitchFamily="34" charset="-122"/>
                <a:cs typeface="Calibri" pitchFamily="34" charset="-120"/>
              </a:rPr>
              <a:t>sortie : client</a:t>
            </a:r>
            <a:endParaRPr lang="en-US" sz="1200" dirty="0"/>
          </a:p>
        </p:txBody>
      </p:sp>
      <p:sp>
        <p:nvSpPr>
          <p:cNvPr id="9" name="carte-operation-searchClients"/>
          <p:cNvSpPr/>
          <p:nvPr/>
        </p:nvSpPr>
        <p:spPr>
          <a:xfrm>
            <a:off x="3291840" y="1188720"/>
            <a:ext cx="2560320" cy="2331720"/>
          </a:xfrm>
          <a:prstGeom prst="roundRect">
            <a:avLst>
              <a:gd name="adj" fmla="val 3922"/>
            </a:avLst>
          </a:prstGeom>
          <a:solidFill>
            <a:schemeClr val="bg2"/>
          </a:solidFill>
          <a:ln w="12700">
            <a:solidFill>
              <a:schemeClr val="bg2"/>
            </a:solidFill>
            <a:prstDash val="solid"/>
          </a:ln>
        </p:spPr>
      </p:sp>
      <p:sp>
        <p:nvSpPr>
          <p:cNvPr id="10" name="icone-searchClients-cercle"/>
          <p:cNvSpPr/>
          <p:nvPr/>
        </p:nvSpPr>
        <p:spPr>
          <a:xfrm>
            <a:off x="3474720" y="1371600"/>
            <a:ext cx="502920" cy="502920"/>
          </a:xfrm>
          <a:prstGeom prst="ellipse">
            <a:avLst/>
          </a:prstGeom>
          <a:solidFill>
            <a:srgbClr val="2563EB"/>
          </a:solidFill>
          <a:ln w="12700">
            <a:solidFill>
              <a:srgbClr val="2563EB"/>
            </a:solidFill>
            <a:prstDash val="solid"/>
          </a:ln>
        </p:spPr>
      </p:sp>
      <p:pic>
        <p:nvPicPr>
          <p:cNvPr id="11" name="icone-searchClients" descr="icone-searchClients">    </p:cNvPr>
          <p:cNvPicPr>
            <a:picLocks noChangeAspect="1"/>
          </p:cNvPicPr>
          <p:nvPr/>
        </p:nvPicPr>
        <p:blipFill>
          <a:blip r:embed="rId2"/>
          <a:stretch>
            <a:fillRect/>
          </a:stretch>
        </p:blipFill>
        <p:spPr>
          <a:xfrm>
            <a:off x="3600450" y="1497330"/>
            <a:ext cx="251460" cy="251460"/>
          </a:xfrm>
          <a:prstGeom prst="rect">
            <a:avLst/>
          </a:prstGeom>
        </p:spPr>
      </p:pic>
      <p:sp>
        <p:nvSpPr>
          <p:cNvPr id="12" name="Text 8"/>
          <p:cNvSpPr txBox="1"/>
          <p:nvPr/>
        </p:nvSpPr>
        <p:spPr>
          <a:xfrm>
            <a:off x="3474720" y="1965960"/>
            <a:ext cx="22860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searchClients</a:t>
            </a:r>
            <a:endParaRPr lang="en-US" sz="1600" dirty="0"/>
          </a:p>
        </p:txBody>
      </p:sp>
      <p:sp>
        <p:nvSpPr>
          <p:cNvPr id="13" name="Text 9"/>
          <p:cNvSpPr txBox="1"/>
          <p:nvPr/>
        </p:nvSpPr>
        <p:spPr>
          <a:xfrm>
            <a:off x="3474720" y="2331720"/>
            <a:ext cx="2286000"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Recherche paginée</a:t>
            </a:r>
            <a:endParaRPr lang="en-US" sz="1300" dirty="0"/>
          </a:p>
        </p:txBody>
      </p:sp>
      <p:sp>
        <p:nvSpPr>
          <p:cNvPr id="14" name="Text 10"/>
          <p:cNvSpPr txBox="1"/>
          <p:nvPr/>
        </p:nvSpPr>
        <p:spPr>
          <a:xfrm>
            <a:off x="3474720" y="2697480"/>
            <a:ext cx="2286000" cy="68580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nom, ville, statut</a:t>
            </a:r>
            <a:endParaRPr lang="en-US" sz="1200" dirty="0"/>
          </a:p>
          <a:p>
            <a:pPr indent="0" marL="0">
              <a:buNone/>
            </a:pPr>
            <a:r>
              <a:rPr lang="en-US" sz="1200" dirty="0">
                <a:solidFill>
                  <a:schemeClr val="accent5"/>
                </a:solidFill>
                <a:latin typeface="Calibri" pitchFamily="34" charset="0"/>
                <a:ea typeface="Calibri" pitchFamily="34" charset="-122"/>
                <a:cs typeface="Calibri" pitchFamily="34" charset="-120"/>
              </a:rPr>
              <a:t>page, taillePage (≤ 100)</a:t>
            </a:r>
            <a:endParaRPr lang="en-US" sz="1200" dirty="0"/>
          </a:p>
        </p:txBody>
      </p:sp>
      <p:sp>
        <p:nvSpPr>
          <p:cNvPr id="15" name="carte-operation-updateClient"/>
          <p:cNvSpPr/>
          <p:nvPr/>
        </p:nvSpPr>
        <p:spPr>
          <a:xfrm>
            <a:off x="6126480" y="1188720"/>
            <a:ext cx="2560320" cy="2331720"/>
          </a:xfrm>
          <a:prstGeom prst="roundRect">
            <a:avLst>
              <a:gd name="adj" fmla="val 3922"/>
            </a:avLst>
          </a:prstGeom>
          <a:solidFill>
            <a:schemeClr val="bg2"/>
          </a:solidFill>
          <a:ln w="12700">
            <a:solidFill>
              <a:schemeClr val="bg2"/>
            </a:solidFill>
            <a:prstDash val="solid"/>
          </a:ln>
        </p:spPr>
      </p:sp>
      <p:sp>
        <p:nvSpPr>
          <p:cNvPr id="16" name="icone-updateClient-cercle"/>
          <p:cNvSpPr/>
          <p:nvPr/>
        </p:nvSpPr>
        <p:spPr>
          <a:xfrm>
            <a:off x="6309360" y="1371600"/>
            <a:ext cx="502920" cy="502920"/>
          </a:xfrm>
          <a:prstGeom prst="ellipse">
            <a:avLst/>
          </a:prstGeom>
          <a:solidFill>
            <a:srgbClr val="C2410C"/>
          </a:solidFill>
          <a:ln w="12700">
            <a:solidFill>
              <a:srgbClr val="C2410C"/>
            </a:solidFill>
            <a:prstDash val="solid"/>
          </a:ln>
        </p:spPr>
      </p:sp>
      <p:pic>
        <p:nvPicPr>
          <p:cNvPr id="17" name="icone-updateClient" descr="icone-updateClient">    </p:cNvPr>
          <p:cNvPicPr>
            <a:picLocks noChangeAspect="1"/>
          </p:cNvPicPr>
          <p:nvPr/>
        </p:nvPicPr>
        <p:blipFill>
          <a:blip r:embed="rId3"/>
          <a:stretch>
            <a:fillRect/>
          </a:stretch>
        </p:blipFill>
        <p:spPr>
          <a:xfrm>
            <a:off x="6435090" y="1497330"/>
            <a:ext cx="251460" cy="251460"/>
          </a:xfrm>
          <a:prstGeom prst="rect">
            <a:avLst/>
          </a:prstGeom>
        </p:spPr>
      </p:pic>
      <p:sp>
        <p:nvSpPr>
          <p:cNvPr id="18" name="Text 13"/>
          <p:cNvSpPr txBox="1"/>
          <p:nvPr/>
        </p:nvSpPr>
        <p:spPr>
          <a:xfrm>
            <a:off x="6309360" y="1965960"/>
            <a:ext cx="228600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updateClient</a:t>
            </a:r>
            <a:endParaRPr lang="en-US" sz="1600" dirty="0"/>
          </a:p>
        </p:txBody>
      </p:sp>
      <p:sp>
        <p:nvSpPr>
          <p:cNvPr id="19" name="Text 14"/>
          <p:cNvSpPr txBox="1"/>
          <p:nvPr/>
        </p:nvSpPr>
        <p:spPr>
          <a:xfrm>
            <a:off x="6309360" y="2331720"/>
            <a:ext cx="2286000" cy="274320"/>
          </a:xfrm>
          <a:prstGeom prst="rect">
            <a:avLst/>
          </a:prstGeom>
          <a:noFill/>
          <a:ln/>
        </p:spPr>
        <p:txBody>
          <a:bodyPr wrap="square" lIns="0" tIns="0" rIns="0" bIns="0" rtlCol="0" anchor="ctr"/>
          <a:lstStyle/>
          <a:p>
            <a:pPr indent="0" marL="0">
              <a:buNone/>
            </a:pPr>
            <a:r>
              <a:rPr lang="en-US" sz="1300" b="1" dirty="0">
                <a:solidFill>
                  <a:schemeClr val="tx1"/>
                </a:solidFill>
                <a:latin typeface="Calibri" pitchFamily="34" charset="0"/>
                <a:ea typeface="Calibri" pitchFamily="34" charset="-122"/>
                <a:cs typeface="Calibri" pitchFamily="34" charset="-120"/>
              </a:rPr>
              <a:t>Modification dans MongoDB</a:t>
            </a:r>
            <a:endParaRPr lang="en-US" sz="1300" dirty="0"/>
          </a:p>
        </p:txBody>
      </p:sp>
      <p:sp>
        <p:nvSpPr>
          <p:cNvPr id="20" name="Text 15"/>
          <p:cNvSpPr txBox="1"/>
          <p:nvPr/>
        </p:nvSpPr>
        <p:spPr>
          <a:xfrm>
            <a:off x="6309360" y="2697480"/>
            <a:ext cx="2286000" cy="685800"/>
          </a:xfrm>
          <a:prstGeom prst="rect">
            <a:avLst/>
          </a:prstGeom>
          <a:noFill/>
          <a:ln/>
        </p:spPr>
        <p:txBody>
          <a:bodyPr wrap="square" lIns="0" tIns="0" rIns="0" bIns="0" rtlCol="0" anchor="ctr"/>
          <a:lstStyle/>
          <a:p>
            <a:pPr indent="0" marL="0">
              <a:buNone/>
            </a:pPr>
            <a:r>
              <a:rPr lang="en-US" sz="1200" dirty="0">
                <a:solidFill>
                  <a:schemeClr val="accent5"/>
                </a:solidFill>
                <a:latin typeface="Calibri" pitchFamily="34" charset="0"/>
                <a:ea typeface="Calibri" pitchFamily="34" charset="-122"/>
                <a:cs typeface="Calibri" pitchFamily="34" charset="-120"/>
              </a:rPr>
              <a:t>champs partiels</a:t>
            </a:r>
            <a:endParaRPr lang="en-US" sz="1200" dirty="0"/>
          </a:p>
          <a:p>
            <a:pPr indent="0" marL="0">
              <a:buNone/>
            </a:pPr>
            <a:r>
              <a:rPr lang="en-US" sz="1200" dirty="0">
                <a:solidFill>
                  <a:schemeClr val="accent5"/>
                </a:solidFill>
                <a:latin typeface="Calibri" pitchFamily="34" charset="0"/>
                <a:ea typeface="Calibri" pitchFamily="34" charset="-122"/>
                <a:cs typeface="Calibri" pitchFamily="34" charset="-120"/>
              </a:rPr>
              <a:t>verrou optimiste (version)</a:t>
            </a:r>
            <a:endParaRPr lang="en-US" sz="1200" dirty="0"/>
          </a:p>
        </p:txBody>
      </p:sp>
      <p:sp>
        <p:nvSpPr>
          <p:cNvPr id="21" name="Text 16"/>
          <p:cNvSpPr txBox="1"/>
          <p:nvPr/>
        </p:nvSpPr>
        <p:spPr>
          <a:xfrm>
            <a:off x="457200" y="3749040"/>
            <a:ext cx="8229600" cy="59436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WSDL 1.1 · document/literal · SOAP 1.1</a:t>
            </a:r>
            <a:endParaRPr lang="en-US" sz="1400" dirty="0"/>
          </a:p>
          <a:p>
            <a:pPr indent="0" marL="0">
              <a:buNone/>
            </a:pPr>
            <a:r>
              <a:rPr lang="en-US" sz="1400" dirty="0">
                <a:solidFill>
                  <a:schemeClr val="tx2"/>
                </a:solidFill>
                <a:latin typeface="Calibri" pitchFamily="34" charset="0"/>
                <a:ea typeface="Calibri" pitchFamily="34" charset="-122"/>
                <a:cs typeface="Calibri" pitchFamily="34" charset="-120"/>
              </a:rPr>
              <a:t>http://localhost:8080/soap/clients?wsdl   —   testé sur la pile Docker (18 cas) · requêtes SoapUI fournies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Validation et erreurs SOAP</a:t>
            </a:r>
            <a:endParaRPr lang="en-US" sz="3000" dirty="0"/>
          </a:p>
        </p:txBody>
      </p:sp>
      <p:graphicFrame>
        <p:nvGraphicFramePr>
          <p:cNvPr id="9" name="tableau-fault"/>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651760"/>
                <a:gridCol w="1005840"/>
                <a:gridCol w="4572000"/>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Code (detail/ClientFault)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faultcode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Quand</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solidFill>
                      <a:schemeClr val="tx2"/>
                    </a:solidFill>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VALIDATION_ERROR</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Client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Paramètre absent, mal formé, hors limites (champ indiqué)</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CLIENT_NOT_FOUND</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Client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Aucun client avec ce code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EMAIL_ALREADY_USED</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Client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E-mail déjà porté par un autre client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VERSION_CONFLICT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1"/>
                          </a:solidFill>
                          <a:latin typeface="Calibri" pitchFamily="34" charset="0"/>
                          <a:ea typeface="Calibri" pitchFamily="34" charset="-122"/>
                          <a:cs typeface="Calibri" pitchFamily="34" charset="-120"/>
                        </a:rPr>
                        <a:t>Client</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Version obsolète ou écriture concurrente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SERVICE_UNAVAILABLE</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Server</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MongoDB injoignable (délai 2 s)</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r h="365760">
                <a:tc>
                  <a:txBody>
                    <a:bodyPr/>
                    <a:lstStyle/>
                    <a:p>
                      <a:pPr indent="0" marL="0">
                        <a:buNone/>
                      </a:pPr>
                      <a:r>
                        <a:rPr lang="en-US" sz="1200" b="1" dirty="0">
                          <a:solidFill>
                            <a:schemeClr val="tx2"/>
                          </a:solidFill>
                          <a:latin typeface="Calibri" pitchFamily="34" charset="0"/>
                          <a:ea typeface="Calibri" pitchFamily="34" charset="-122"/>
                          <a:cs typeface="Calibri" pitchFamily="34" charset="-120"/>
                        </a:rPr>
                        <a:t>INTERNAL_ERROR</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Server</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Erreur inattendue, détail réservé aux logs</a:t>
                      </a:r>
                      <a:endParaRPr lang="en-US" sz="1200" dirty="0">
                        <a:latin typeface="Calibri" charset="0"/>
                        <a:ea typeface="Calibri" charset="0"/>
                        <a:cs typeface="Calibri" charset="0"/>
                      </a:endParaRPr>
                    </a:p>
                  </a:txBody>
                  <a:tcPr marL="91440" marR="91440" marT="45720" marB="45720" anchor="ctr">
                    <a:lnL w="9525" cap="flat" cmpd="sng" algn="ctr">
                      <a:solidFill>
                        <a:srgbClr val="D5DEE1"/>
                      </a:solidFill>
                      <a:prstDash val="solid"/>
                      <a:round/>
                      <a:headEnd type="none" w="med" len="med"/>
                      <a:tailEnd type="none" w="med" len="med"/>
                    </a:lnL>
                    <a:lnR w="9525" cap="flat" cmpd="sng" algn="ctr">
                      <a:solidFill>
                        <a:srgbClr val="D5DEE1"/>
                      </a:solidFill>
                      <a:prstDash val="solid"/>
                      <a:round/>
                      <a:headEnd type="none" w="med" len="med"/>
                      <a:tailEnd type="none" w="med" len="med"/>
                    </a:lnR>
                    <a:lnT w="9525" cap="flat" cmpd="sng" algn="ctr">
                      <a:solidFill>
                        <a:srgbClr val="D5DEE1"/>
                      </a:solidFill>
                      <a:prstDash val="solid"/>
                      <a:round/>
                      <a:headEnd type="none" w="med" len="med"/>
                      <a:tailEnd type="none" w="med" len="med"/>
                    </a:lnT>
                    <a:lnB w="9525" cap="flat" cmpd="sng" algn="ctr">
                      <a:solidFill>
                        <a:srgbClr val="D5DEE1"/>
                      </a:solidFill>
                      <a:prstDash val="solid"/>
                      <a:round/>
                      <a:headEnd type="none" w="med" len="med"/>
                      <a:tailEnd type="none" w="med" len="med"/>
                    </a:lnB>
                  </a:tcPr>
                </a:tc>
              </a:tr>
            </a:tbl>
          </a:graphicData>
        </a:graphic>
      </p:graphicFrame>
      <p:sp>
        <p:nvSpPr>
          <p:cNvPr id="4" name="Text 1"/>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300" i="1" dirty="0">
                <a:solidFill>
                  <a:schemeClr val="tx2"/>
                </a:solidFill>
                <a:latin typeface="Calibri" pitchFamily="34" charset="0"/>
                <a:ea typeface="Calibri" pitchFamily="34" charset="-122"/>
                <a:cs typeface="Calibri" pitchFamily="34" charset="-120"/>
              </a:rPr>
              <a:t>Statut HTTP 500 pour tout Fault (SOAP 1.1) · détail typé par le WSDL · les erreurs techniques ne divulguent aucun détail interne.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Réconciliation vers MySQL</a:t>
            </a:r>
            <a:endParaRPr lang="en-US" sz="3000" dirty="0"/>
          </a:p>
        </p:txBody>
      </p:sp>
      <p:sp>
        <p:nvSpPr>
          <p:cNvPr id="3" name="etape-reconciliation-1"/>
          <p:cNvSpPr/>
          <p:nvPr/>
        </p:nvSpPr>
        <p:spPr>
          <a:xfrm>
            <a:off x="457200" y="1188720"/>
            <a:ext cx="1920240" cy="1554480"/>
          </a:xfrm>
          <a:prstGeom prst="roundRect">
            <a:avLst>
              <a:gd name="adj" fmla="val 5882"/>
            </a:avLst>
          </a:prstGeom>
          <a:solidFill>
            <a:schemeClr val="bg2"/>
          </a:solidFill>
          <a:ln w="12700">
            <a:solidFill>
              <a:schemeClr val="bg2"/>
            </a:solidFill>
            <a:prstDash val="solid"/>
          </a:ln>
        </p:spPr>
      </p:sp>
      <p:sp>
        <p:nvSpPr>
          <p:cNvPr id="4" name="numero-1"/>
          <p:cNvSpPr/>
          <p:nvPr/>
        </p:nvSpPr>
        <p:spPr>
          <a:xfrm>
            <a:off x="594360" y="132588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59436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09728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updateClient</a:t>
            </a:r>
            <a:endParaRPr lang="en-US" sz="1400" dirty="0"/>
          </a:p>
        </p:txBody>
      </p:sp>
      <p:sp>
        <p:nvSpPr>
          <p:cNvPr id="7" name="Text 5"/>
          <p:cNvSpPr txBox="1"/>
          <p:nvPr/>
        </p:nvSpPr>
        <p:spPr>
          <a:xfrm>
            <a:off x="594360" y="1920240"/>
            <a:ext cx="1691640" cy="7315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Mongo : version + 1</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pending_mysql</a:t>
            </a:r>
            <a:endParaRPr lang="en-US" sz="1200" dirty="0"/>
          </a:p>
        </p:txBody>
      </p:sp>
      <p:sp>
        <p:nvSpPr>
          <p:cNvPr id="8" name="etape-reconciliation-2"/>
          <p:cNvSpPr/>
          <p:nvPr/>
        </p:nvSpPr>
        <p:spPr>
          <a:xfrm>
            <a:off x="2560320" y="1188720"/>
            <a:ext cx="1920240" cy="1554480"/>
          </a:xfrm>
          <a:prstGeom prst="roundRect">
            <a:avLst>
              <a:gd name="adj" fmla="val 5882"/>
            </a:avLst>
          </a:prstGeom>
          <a:solidFill>
            <a:schemeClr val="bg2"/>
          </a:solidFill>
          <a:ln w="12700">
            <a:solidFill>
              <a:schemeClr val="bg2"/>
            </a:solidFill>
            <a:prstDash val="solid"/>
          </a:ln>
        </p:spPr>
      </p:sp>
      <p:sp>
        <p:nvSpPr>
          <p:cNvPr id="9" name="numero-2"/>
          <p:cNvSpPr/>
          <p:nvPr/>
        </p:nvSpPr>
        <p:spPr>
          <a:xfrm>
            <a:off x="2697480" y="1325880"/>
            <a:ext cx="411480" cy="411480"/>
          </a:xfrm>
          <a:prstGeom prst="ellipse">
            <a:avLst/>
          </a:prstGeom>
          <a:solidFill>
            <a:schemeClr val="accent1"/>
          </a:solidFill>
          <a:ln w="12700">
            <a:solidFill>
              <a:schemeClr val="accent1"/>
            </a:solidFill>
            <a:prstDash val="solid"/>
          </a:ln>
        </p:spPr>
      </p:sp>
      <p:sp>
        <p:nvSpPr>
          <p:cNvPr id="10" name="Text 8"/>
          <p:cNvSpPr txBox="1"/>
          <p:nvPr/>
        </p:nvSpPr>
        <p:spPr>
          <a:xfrm>
            <a:off x="269748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320040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DAG 1 passe</a:t>
            </a:r>
            <a:endParaRPr lang="en-US" sz="1400" dirty="0"/>
          </a:p>
        </p:txBody>
      </p:sp>
      <p:sp>
        <p:nvSpPr>
          <p:cNvPr id="12" name="Text 10"/>
          <p:cNvSpPr txBox="1"/>
          <p:nvPr/>
        </p:nvSpPr>
        <p:spPr>
          <a:xfrm>
            <a:off x="2697480" y="1920240"/>
            <a:ext cx="1691640" cy="7315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ignore ce client</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(conflits évités)</a:t>
            </a:r>
            <a:endParaRPr lang="en-US" sz="1200" dirty="0"/>
          </a:p>
        </p:txBody>
      </p:sp>
      <p:sp>
        <p:nvSpPr>
          <p:cNvPr id="13" name="etape-reconciliation-3"/>
          <p:cNvSpPr/>
          <p:nvPr/>
        </p:nvSpPr>
        <p:spPr>
          <a:xfrm>
            <a:off x="4663440" y="1188720"/>
            <a:ext cx="1920240" cy="1554480"/>
          </a:xfrm>
          <a:prstGeom prst="roundRect">
            <a:avLst>
              <a:gd name="adj" fmla="val 5882"/>
            </a:avLst>
          </a:prstGeom>
          <a:solidFill>
            <a:schemeClr val="bg2"/>
          </a:solidFill>
          <a:ln w="12700">
            <a:solidFill>
              <a:schemeClr val="bg2"/>
            </a:solidFill>
            <a:prstDash val="solid"/>
          </a:ln>
        </p:spPr>
      </p:sp>
      <p:sp>
        <p:nvSpPr>
          <p:cNvPr id="14" name="numero-3"/>
          <p:cNvSpPr/>
          <p:nvPr/>
        </p:nvSpPr>
        <p:spPr>
          <a:xfrm>
            <a:off x="4800600" y="132588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480060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530352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DAG 2 applique</a:t>
            </a:r>
            <a:endParaRPr lang="en-US" sz="1400" dirty="0"/>
          </a:p>
        </p:txBody>
      </p:sp>
      <p:sp>
        <p:nvSpPr>
          <p:cNvPr id="17" name="Text 15"/>
          <p:cNvSpPr txBox="1"/>
          <p:nvPr/>
        </p:nvSpPr>
        <p:spPr>
          <a:xfrm>
            <a:off x="4800600" y="1920240"/>
            <a:ext cx="1691640" cy="7315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UPDATE MySQL</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détecte les conflits</a:t>
            </a:r>
            <a:endParaRPr lang="en-US" sz="1200" dirty="0"/>
          </a:p>
        </p:txBody>
      </p:sp>
      <p:sp>
        <p:nvSpPr>
          <p:cNvPr id="18" name="etape-reconciliation-4"/>
          <p:cNvSpPr/>
          <p:nvPr/>
        </p:nvSpPr>
        <p:spPr>
          <a:xfrm>
            <a:off x="6766560" y="1188720"/>
            <a:ext cx="1920240" cy="1554480"/>
          </a:xfrm>
          <a:prstGeom prst="roundRect">
            <a:avLst>
              <a:gd name="adj" fmla="val 5882"/>
            </a:avLst>
          </a:prstGeom>
          <a:solidFill>
            <a:schemeClr val="bg2"/>
          </a:solidFill>
          <a:ln w="12700">
            <a:solidFill>
              <a:schemeClr val="bg2"/>
            </a:solidFill>
            <a:prstDash val="solid"/>
          </a:ln>
        </p:spPr>
      </p:sp>
      <p:sp>
        <p:nvSpPr>
          <p:cNvPr id="19" name="numero-4"/>
          <p:cNvSpPr/>
          <p:nvPr/>
        </p:nvSpPr>
        <p:spPr>
          <a:xfrm>
            <a:off x="6903720" y="132588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6903720" y="132588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7406640" y="1325880"/>
            <a:ext cx="1234440" cy="41148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Acquittement</a:t>
            </a:r>
            <a:endParaRPr lang="en-US" sz="1400" dirty="0"/>
          </a:p>
        </p:txBody>
      </p:sp>
      <p:sp>
        <p:nvSpPr>
          <p:cNvPr id="22" name="Text 20"/>
          <p:cNvSpPr txBox="1"/>
          <p:nvPr/>
        </p:nvSpPr>
        <p:spPr>
          <a:xfrm>
            <a:off x="6903720" y="1920240"/>
            <a:ext cx="1691640" cy="731520"/>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synced, seulement si</a:t>
            </a:r>
            <a:endParaRPr lang="en-US" sz="1200" dirty="0"/>
          </a:p>
          <a:p>
            <a:pPr indent="0" marL="0">
              <a:buNone/>
            </a:pPr>
            <a:r>
              <a:rPr lang="en-US" sz="1200" dirty="0">
                <a:solidFill>
                  <a:schemeClr val="tx1"/>
                </a:solidFill>
                <a:latin typeface="Calibri" pitchFamily="34" charset="0"/>
                <a:ea typeface="Calibri" pitchFamily="34" charset="-122"/>
                <a:cs typeface="Calibri" pitchFamily="34" charset="-120"/>
              </a:rPr>
              <a:t>version inchangée</a:t>
            </a:r>
            <a:endParaRPr lang="en-US" sz="1200" dirty="0"/>
          </a:p>
        </p:txBody>
      </p:sp>
      <p:sp>
        <p:nvSpPr>
          <p:cNvPr id="23" name="encart-conflit"/>
          <p:cNvSpPr/>
          <p:nvPr/>
        </p:nvSpPr>
        <p:spPr>
          <a:xfrm>
            <a:off x="457200" y="3017520"/>
            <a:ext cx="8229600" cy="1234440"/>
          </a:xfrm>
          <a:prstGeom prst="roundRect">
            <a:avLst>
              <a:gd name="adj" fmla="val 7407"/>
            </a:avLst>
          </a:prstGeom>
          <a:solidFill>
            <a:schemeClr val="tx2"/>
          </a:solidFill>
          <a:ln w="12700">
            <a:solidFill>
              <a:schemeClr val="tx2"/>
            </a:solidFill>
            <a:prstDash val="solid"/>
          </a:ln>
        </p:spPr>
      </p:sp>
      <p:sp>
        <p:nvSpPr>
          <p:cNvPr id="24" name="Text 22"/>
          <p:cNvSpPr txBox="1"/>
          <p:nvPr/>
        </p:nvSpPr>
        <p:spPr>
          <a:xfrm>
            <a:off x="731520" y="3108960"/>
            <a:ext cx="7680960" cy="10515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Conflit : la ligne MySQL a changé entre-temps</a:t>
            </a:r>
            <a:endParaRPr lang="en-US" sz="1500" dirty="0"/>
          </a:p>
          <a:p>
            <a:pPr indent="0" marL="0">
              <a:buNone/>
            </a:pPr>
            <a:r>
              <a:rPr lang="en-US" sz="1300" dirty="0">
                <a:solidFill>
                  <a:schemeClr val="bg1"/>
                </a:solidFill>
                <a:latin typeface="Calibri" pitchFamily="34" charset="0"/>
                <a:ea typeface="Calibri" pitchFamily="34" charset="-122"/>
                <a:cs typeface="Calibri" pitchFamily="34" charset="-120"/>
              </a:rPr>
              <a:t>MongoDB l'emporte (référence). L'ancienne ligne MySQL est conservée dans reconciliation_log.mysql_overwritten.</a:t>
            </a:r>
            <a:endParaRPr lang="en-US" sz="1500" dirty="0"/>
          </a:p>
          <a:p>
            <a:pPr indent="0" marL="0">
              <a:buNone/>
            </a:pPr>
            <a:r>
              <a:rPr lang="en-US" sz="1300" dirty="0">
                <a:solidFill>
                  <a:schemeClr val="bg2"/>
                </a:solidFill>
                <a:latin typeface="Calibri" pitchFamily="34" charset="0"/>
                <a:ea typeface="Calibri" pitchFamily="34" charset="-122"/>
                <a:cs typeface="Calibri" pitchFamily="34" charset="-120"/>
              </a:rPr>
              <a:t>Un client en échec ne bloque pas les autres ; le DAG se termine en erreur pour alerter.</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Supervision Zabbix</a:t>
            </a:r>
            <a:endParaRPr lang="en-US" sz="3000" dirty="0"/>
          </a:p>
        </p:txBody>
      </p:sp>
      <p:sp>
        <p:nvSpPr>
          <p:cNvPr id="3" name="carte-alerte-1"/>
          <p:cNvSpPr/>
          <p:nvPr/>
        </p:nvSpPr>
        <p:spPr>
          <a:xfrm>
            <a:off x="457200" y="1188720"/>
            <a:ext cx="4023360" cy="621792"/>
          </a:xfrm>
          <a:prstGeom prst="roundRect">
            <a:avLst>
              <a:gd name="adj" fmla="val 11765"/>
            </a:avLst>
          </a:prstGeom>
          <a:solidFill>
            <a:schemeClr val="bg2"/>
          </a:solidFill>
          <a:ln w="12700">
            <a:solidFill>
              <a:schemeClr val="bg2"/>
            </a:solidFill>
            <a:prstDash val="solid"/>
          </a:ln>
        </p:spPr>
      </p:sp>
      <p:sp>
        <p:nvSpPr>
          <p:cNvPr id="4" name="pastille-1"/>
          <p:cNvSpPr/>
          <p:nvPr/>
        </p:nvSpPr>
        <p:spPr>
          <a:xfrm>
            <a:off x="621792" y="1380744"/>
            <a:ext cx="237744" cy="237744"/>
          </a:xfrm>
          <a:prstGeom prst="ellipse">
            <a:avLst/>
          </a:prstGeom>
          <a:solidFill>
            <a:schemeClr val="accent4"/>
          </a:solidFill>
          <a:ln w="12700">
            <a:solidFill>
              <a:schemeClr val="accent4"/>
            </a:solidFill>
            <a:prstDash val="solid"/>
          </a:ln>
        </p:spPr>
      </p:sp>
      <p:sp>
        <p:nvSpPr>
          <p:cNvPr id="5" name="Text 3"/>
          <p:cNvSpPr txBox="1"/>
          <p:nvPr/>
        </p:nvSpPr>
        <p:spPr>
          <a:xfrm>
            <a:off x="1005840" y="1188720"/>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MongoDB joignable</a:t>
            </a:r>
            <a:endParaRPr lang="en-US" sz="1300" dirty="0"/>
          </a:p>
        </p:txBody>
      </p:sp>
      <p:sp>
        <p:nvSpPr>
          <p:cNvPr id="6" name="Text 4"/>
          <p:cNvSpPr txBox="1"/>
          <p:nvPr/>
        </p:nvSpPr>
        <p:spPr>
          <a:xfrm>
            <a:off x="2926080" y="1188720"/>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HIGH si 0</a:t>
            </a:r>
            <a:endParaRPr lang="en-US" sz="1200" dirty="0"/>
          </a:p>
        </p:txBody>
      </p:sp>
      <p:sp>
        <p:nvSpPr>
          <p:cNvPr id="7" name="carte-alerte-2"/>
          <p:cNvSpPr/>
          <p:nvPr/>
        </p:nvSpPr>
        <p:spPr>
          <a:xfrm>
            <a:off x="4663440" y="1188720"/>
            <a:ext cx="4023360" cy="621792"/>
          </a:xfrm>
          <a:prstGeom prst="roundRect">
            <a:avLst>
              <a:gd name="adj" fmla="val 11765"/>
            </a:avLst>
          </a:prstGeom>
          <a:solidFill>
            <a:schemeClr val="bg2"/>
          </a:solidFill>
          <a:ln w="12700">
            <a:solidFill>
              <a:schemeClr val="bg2"/>
            </a:solidFill>
            <a:prstDash val="solid"/>
          </a:ln>
        </p:spPr>
      </p:sp>
      <p:sp>
        <p:nvSpPr>
          <p:cNvPr id="8" name="pastille-2"/>
          <p:cNvSpPr/>
          <p:nvPr/>
        </p:nvSpPr>
        <p:spPr>
          <a:xfrm>
            <a:off x="4828032" y="1380744"/>
            <a:ext cx="237744" cy="237744"/>
          </a:xfrm>
          <a:prstGeom prst="ellipse">
            <a:avLst/>
          </a:prstGeom>
          <a:solidFill>
            <a:schemeClr val="accent4"/>
          </a:solidFill>
          <a:ln w="12700">
            <a:solidFill>
              <a:schemeClr val="accent4"/>
            </a:solidFill>
            <a:prstDash val="solid"/>
          </a:ln>
        </p:spPr>
      </p:sp>
      <p:sp>
        <p:nvSpPr>
          <p:cNvPr id="9" name="Text 7"/>
          <p:cNvSpPr txBox="1"/>
          <p:nvPr/>
        </p:nvSpPr>
        <p:spPr>
          <a:xfrm>
            <a:off x="5212080" y="1188720"/>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Service SOAP injoignable</a:t>
            </a:r>
            <a:endParaRPr lang="en-US" sz="1300" dirty="0"/>
          </a:p>
        </p:txBody>
      </p:sp>
      <p:sp>
        <p:nvSpPr>
          <p:cNvPr id="10" name="Text 8"/>
          <p:cNvSpPr txBox="1"/>
          <p:nvPr/>
        </p:nvSpPr>
        <p:spPr>
          <a:xfrm>
            <a:off x="7132320" y="1188720"/>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HIGH après 2 min</a:t>
            </a:r>
            <a:endParaRPr lang="en-US" sz="1200" dirty="0"/>
          </a:p>
        </p:txBody>
      </p:sp>
      <p:sp>
        <p:nvSpPr>
          <p:cNvPr id="11" name="carte-alerte-3"/>
          <p:cNvSpPr/>
          <p:nvPr/>
        </p:nvSpPr>
        <p:spPr>
          <a:xfrm>
            <a:off x="457200" y="1938528"/>
            <a:ext cx="4023360" cy="621792"/>
          </a:xfrm>
          <a:prstGeom prst="roundRect">
            <a:avLst>
              <a:gd name="adj" fmla="val 11765"/>
            </a:avLst>
          </a:prstGeom>
          <a:solidFill>
            <a:schemeClr val="bg2"/>
          </a:solidFill>
          <a:ln w="12700">
            <a:solidFill>
              <a:schemeClr val="bg2"/>
            </a:solidFill>
            <a:prstDash val="solid"/>
          </a:ln>
        </p:spPr>
      </p:sp>
      <p:sp>
        <p:nvSpPr>
          <p:cNvPr id="12" name="pastille-3"/>
          <p:cNvSpPr/>
          <p:nvPr/>
        </p:nvSpPr>
        <p:spPr>
          <a:xfrm>
            <a:off x="621792" y="2130552"/>
            <a:ext cx="237744" cy="237744"/>
          </a:xfrm>
          <a:prstGeom prst="ellipse">
            <a:avLst/>
          </a:prstGeom>
          <a:solidFill>
            <a:schemeClr val="accent2"/>
          </a:solidFill>
          <a:ln w="12700">
            <a:solidFill>
              <a:schemeClr val="accent2"/>
            </a:solidFill>
            <a:prstDash val="solid"/>
          </a:ln>
        </p:spPr>
      </p:sp>
      <p:sp>
        <p:nvSpPr>
          <p:cNvPr id="13" name="Text 11"/>
          <p:cNvSpPr txBox="1"/>
          <p:nvPr/>
        </p:nvSpPr>
        <p:spPr>
          <a:xfrm>
            <a:off x="1005840" y="1938528"/>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Fautes serveur (5 min)</a:t>
            </a:r>
            <a:endParaRPr lang="en-US" sz="1300" dirty="0"/>
          </a:p>
        </p:txBody>
      </p:sp>
      <p:sp>
        <p:nvSpPr>
          <p:cNvPr id="14" name="Text 12"/>
          <p:cNvSpPr txBox="1"/>
          <p:nvPr/>
        </p:nvSpPr>
        <p:spPr>
          <a:xfrm>
            <a:off x="2926080" y="1938528"/>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AVERAGE si ≥ 3</a:t>
            </a:r>
            <a:endParaRPr lang="en-US" sz="1200" dirty="0"/>
          </a:p>
        </p:txBody>
      </p:sp>
      <p:sp>
        <p:nvSpPr>
          <p:cNvPr id="15" name="carte-alerte-4"/>
          <p:cNvSpPr/>
          <p:nvPr/>
        </p:nvSpPr>
        <p:spPr>
          <a:xfrm>
            <a:off x="4663440" y="1938528"/>
            <a:ext cx="4023360" cy="621792"/>
          </a:xfrm>
          <a:prstGeom prst="roundRect">
            <a:avLst>
              <a:gd name="adj" fmla="val 11765"/>
            </a:avLst>
          </a:prstGeom>
          <a:solidFill>
            <a:schemeClr val="bg2"/>
          </a:solidFill>
          <a:ln w="12700">
            <a:solidFill>
              <a:schemeClr val="bg2"/>
            </a:solidFill>
            <a:prstDash val="solid"/>
          </a:ln>
        </p:spPr>
      </p:sp>
      <p:sp>
        <p:nvSpPr>
          <p:cNvPr id="16" name="pastille-4"/>
          <p:cNvSpPr/>
          <p:nvPr/>
        </p:nvSpPr>
        <p:spPr>
          <a:xfrm>
            <a:off x="4828032" y="2130552"/>
            <a:ext cx="237744" cy="237744"/>
          </a:xfrm>
          <a:prstGeom prst="ellipse">
            <a:avLst/>
          </a:prstGeom>
          <a:solidFill>
            <a:schemeClr val="accent2"/>
          </a:solidFill>
          <a:ln w="12700">
            <a:solidFill>
              <a:schemeClr val="accent2"/>
            </a:solidFill>
            <a:prstDash val="solid"/>
          </a:ln>
        </p:spPr>
      </p:sp>
      <p:sp>
        <p:nvSpPr>
          <p:cNvPr id="17" name="Text 15"/>
          <p:cNvSpPr txBox="1"/>
          <p:nvPr/>
        </p:nvSpPr>
        <p:spPr>
          <a:xfrm>
            <a:off x="5212080" y="1938528"/>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Latence moyenne</a:t>
            </a:r>
            <a:endParaRPr lang="en-US" sz="1300" dirty="0"/>
          </a:p>
        </p:txBody>
      </p:sp>
      <p:sp>
        <p:nvSpPr>
          <p:cNvPr id="18" name="Text 16"/>
          <p:cNvSpPr txBox="1"/>
          <p:nvPr/>
        </p:nvSpPr>
        <p:spPr>
          <a:xfrm>
            <a:off x="7132320" y="1938528"/>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WARNING &gt; 500 ms</a:t>
            </a:r>
            <a:endParaRPr lang="en-US" sz="1200" dirty="0"/>
          </a:p>
        </p:txBody>
      </p:sp>
      <p:sp>
        <p:nvSpPr>
          <p:cNvPr id="19" name="carte-alerte-5"/>
          <p:cNvSpPr/>
          <p:nvPr/>
        </p:nvSpPr>
        <p:spPr>
          <a:xfrm>
            <a:off x="457200" y="2688336"/>
            <a:ext cx="4023360" cy="621792"/>
          </a:xfrm>
          <a:prstGeom prst="roundRect">
            <a:avLst>
              <a:gd name="adj" fmla="val 11765"/>
            </a:avLst>
          </a:prstGeom>
          <a:solidFill>
            <a:schemeClr val="bg2"/>
          </a:solidFill>
          <a:ln w="12700">
            <a:solidFill>
              <a:schemeClr val="bg2"/>
            </a:solidFill>
            <a:prstDash val="solid"/>
          </a:ln>
        </p:spPr>
      </p:sp>
      <p:sp>
        <p:nvSpPr>
          <p:cNvPr id="20" name="pastille-5"/>
          <p:cNvSpPr/>
          <p:nvPr/>
        </p:nvSpPr>
        <p:spPr>
          <a:xfrm>
            <a:off x="621792" y="2880360"/>
            <a:ext cx="237744" cy="237744"/>
          </a:xfrm>
          <a:prstGeom prst="ellipse">
            <a:avLst/>
          </a:prstGeom>
          <a:solidFill>
            <a:schemeClr val="accent2"/>
          </a:solidFill>
          <a:ln w="12700">
            <a:solidFill>
              <a:schemeClr val="accent2"/>
            </a:solidFill>
            <a:prstDash val="solid"/>
          </a:ln>
        </p:spPr>
      </p:sp>
      <p:sp>
        <p:nvSpPr>
          <p:cNvPr id="21" name="Text 19"/>
          <p:cNvSpPr txBox="1"/>
          <p:nvPr/>
        </p:nvSpPr>
        <p:spPr>
          <a:xfrm>
            <a:off x="1005840" y="2688336"/>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Retard de réconciliation</a:t>
            </a:r>
            <a:endParaRPr lang="en-US" sz="1300" dirty="0"/>
          </a:p>
        </p:txBody>
      </p:sp>
      <p:sp>
        <p:nvSpPr>
          <p:cNvPr id="22" name="Text 20"/>
          <p:cNvSpPr txBox="1"/>
          <p:nvPr/>
        </p:nvSpPr>
        <p:spPr>
          <a:xfrm>
            <a:off x="2926080" y="2688336"/>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WARNING &gt; 50 clients</a:t>
            </a:r>
            <a:endParaRPr lang="en-US" sz="1200" dirty="0"/>
          </a:p>
        </p:txBody>
      </p:sp>
      <p:sp>
        <p:nvSpPr>
          <p:cNvPr id="23" name="carte-alerte-6"/>
          <p:cNvSpPr/>
          <p:nvPr/>
        </p:nvSpPr>
        <p:spPr>
          <a:xfrm>
            <a:off x="4663440" y="2688336"/>
            <a:ext cx="4023360" cy="621792"/>
          </a:xfrm>
          <a:prstGeom prst="roundRect">
            <a:avLst>
              <a:gd name="adj" fmla="val 11765"/>
            </a:avLst>
          </a:prstGeom>
          <a:solidFill>
            <a:schemeClr val="bg2"/>
          </a:solidFill>
          <a:ln w="12700">
            <a:solidFill>
              <a:schemeClr val="bg2"/>
            </a:solidFill>
            <a:prstDash val="solid"/>
          </a:ln>
        </p:spPr>
      </p:sp>
      <p:sp>
        <p:nvSpPr>
          <p:cNvPr id="24" name="pastille-6"/>
          <p:cNvSpPr/>
          <p:nvPr/>
        </p:nvSpPr>
        <p:spPr>
          <a:xfrm>
            <a:off x="4828032" y="2880360"/>
            <a:ext cx="237744" cy="237744"/>
          </a:xfrm>
          <a:prstGeom prst="ellipse">
            <a:avLst/>
          </a:prstGeom>
          <a:solidFill>
            <a:schemeClr val="accent2"/>
          </a:solidFill>
          <a:ln w="12700">
            <a:solidFill>
              <a:schemeClr val="accent2"/>
            </a:solidFill>
            <a:prstDash val="solid"/>
          </a:ln>
        </p:spPr>
      </p:sp>
      <p:sp>
        <p:nvSpPr>
          <p:cNvPr id="25" name="Text 23"/>
          <p:cNvSpPr txBox="1"/>
          <p:nvPr/>
        </p:nvSpPr>
        <p:spPr>
          <a:xfrm>
            <a:off x="5212080" y="2688336"/>
            <a:ext cx="2011680" cy="621792"/>
          </a:xfrm>
          <a:prstGeom prst="rect">
            <a:avLst/>
          </a:prstGeom>
          <a:noFill/>
          <a:ln/>
        </p:spPr>
        <p:txBody>
          <a:bodyPr wrap="square" lIns="0" tIns="0" rIns="0" bIns="0" rtlCol="0" anchor="ctr"/>
          <a:lstStyle/>
          <a:p>
            <a:pPr indent="0" marL="0">
              <a:buNone/>
            </a:pPr>
            <a:r>
              <a:rPr lang="en-US" sz="1300" b="1" dirty="0">
                <a:solidFill>
                  <a:schemeClr val="tx2"/>
                </a:solidFill>
                <a:latin typeface="Calibri" pitchFamily="34" charset="0"/>
                <a:ea typeface="Calibri" pitchFamily="34" charset="-122"/>
                <a:cs typeface="Calibri" pitchFamily="34" charset="-120"/>
              </a:rPr>
              <a:t>Âge du dernier ETL</a:t>
            </a:r>
            <a:endParaRPr lang="en-US" sz="1300" dirty="0"/>
          </a:p>
        </p:txBody>
      </p:sp>
      <p:sp>
        <p:nvSpPr>
          <p:cNvPr id="26" name="Text 24"/>
          <p:cNvSpPr txBox="1"/>
          <p:nvPr/>
        </p:nvSpPr>
        <p:spPr>
          <a:xfrm>
            <a:off x="7132320" y="2688336"/>
            <a:ext cx="1463040" cy="621792"/>
          </a:xfrm>
          <a:prstGeom prst="rect">
            <a:avLst/>
          </a:prstGeom>
          <a:noFill/>
          <a:ln/>
        </p:spPr>
        <p:txBody>
          <a:bodyPr wrap="square" lIns="0" tIns="0" rIns="0" bIns="0" rtlCol="0" anchor="ctr"/>
          <a:lstStyle/>
          <a:p>
            <a:pPr algn="r" indent="0" marL="0">
              <a:buNone/>
            </a:pPr>
            <a:r>
              <a:rPr lang="en-US" sz="1200" dirty="0">
                <a:solidFill>
                  <a:schemeClr val="accent5"/>
                </a:solidFill>
                <a:latin typeface="Calibri" pitchFamily="34" charset="0"/>
                <a:ea typeface="Calibri" pitchFamily="34" charset="-122"/>
                <a:cs typeface="Calibri" pitchFamily="34" charset="-120"/>
              </a:rPr>
              <a:t>WARNING &gt; 2 h</a:t>
            </a:r>
            <a:endParaRPr lang="en-US" sz="1200" dirty="0"/>
          </a:p>
        </p:txBody>
      </p:sp>
      <p:sp>
        <p:nvSpPr>
          <p:cNvPr id="27" name="Text 25"/>
          <p:cNvSpPr txBox="1"/>
          <p:nvPr/>
        </p:nvSpPr>
        <p:spPr>
          <a:xfrm>
            <a:off x="457200" y="3749040"/>
            <a:ext cx="8229600" cy="64008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Template « SOAP Clients Service » : 12 éléments, 6 déclencheurs, 2 graphiques. Configuration automatisée par zabbix/setup_zabbix.py.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Tests et résultats</a:t>
            </a:r>
            <a:endParaRPr lang="en-US" sz="3000" dirty="0"/>
          </a:p>
        </p:txBody>
      </p:sp>
      <p:graphicFrame>
        <p:nvGraphicFramePr>
          <p:cNvPr id="3" name="Chart 0" descr=""/>
          <p:cNvGraphicFramePr/>
          <p:nvPr/>
        </p:nvGraphicFramePr>
        <p:xfrm>
          <a:off x="365760" y="1097280"/>
          <a:ext cx="4846320" cy="3291840"/>
        </p:xfrm>
        <a:graphic xmlns:a="http://schemas.openxmlformats.org/drawingml/2006/main">
          <a:graphicData uri="http://schemas.openxmlformats.org/drawingml/2006/chart">
            <c:chart xmlns:c="http://schemas.openxmlformats.org/drawingml/2006/chart" r:id="rId1"/>
          </a:graphicData>
        </a:graphic>
      </p:graphicFrame>
      <p:sp>
        <p:nvSpPr>
          <p:cNvPr id="4" name="carte-resultat-1"/>
          <p:cNvSpPr/>
          <p:nvPr/>
        </p:nvSpPr>
        <p:spPr>
          <a:xfrm>
            <a:off x="5486400" y="1188720"/>
            <a:ext cx="3200400" cy="896112"/>
          </a:xfrm>
          <a:prstGeom prst="roundRect">
            <a:avLst>
              <a:gd name="adj" fmla="val 8163"/>
            </a:avLst>
          </a:prstGeom>
          <a:solidFill>
            <a:schemeClr val="bg2"/>
          </a:solidFill>
          <a:ln w="12700">
            <a:solidFill>
              <a:schemeClr val="bg2"/>
            </a:solidFill>
            <a:prstDash val="solid"/>
          </a:ln>
        </p:spPr>
      </p:sp>
      <p:sp>
        <p:nvSpPr>
          <p:cNvPr id="5" name="Text 2"/>
          <p:cNvSpPr txBox="1"/>
          <p:nvPr/>
        </p:nvSpPr>
        <p:spPr>
          <a:xfrm>
            <a:off x="5623560" y="1188720"/>
            <a:ext cx="1325880" cy="896112"/>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18 / 18</a:t>
            </a:r>
            <a:endParaRPr lang="en-US" sz="2400" dirty="0"/>
          </a:p>
        </p:txBody>
      </p:sp>
      <p:sp>
        <p:nvSpPr>
          <p:cNvPr id="6" name="Text 3"/>
          <p:cNvSpPr txBox="1"/>
          <p:nvPr/>
        </p:nvSpPr>
        <p:spPr>
          <a:xfrm>
            <a:off x="6949440" y="1188720"/>
            <a:ext cx="1645920" cy="8961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tests SOAP sur pile Docker réelle</a:t>
            </a:r>
            <a:endParaRPr lang="en-US" sz="1200" dirty="0"/>
          </a:p>
        </p:txBody>
      </p:sp>
      <p:sp>
        <p:nvSpPr>
          <p:cNvPr id="7" name="carte-resultat-2"/>
          <p:cNvSpPr/>
          <p:nvPr/>
        </p:nvSpPr>
        <p:spPr>
          <a:xfrm>
            <a:off x="5486400" y="2240280"/>
            <a:ext cx="3200400" cy="896112"/>
          </a:xfrm>
          <a:prstGeom prst="roundRect">
            <a:avLst>
              <a:gd name="adj" fmla="val 8163"/>
            </a:avLst>
          </a:prstGeom>
          <a:solidFill>
            <a:schemeClr val="bg2"/>
          </a:solidFill>
          <a:ln w="12700">
            <a:solidFill>
              <a:schemeClr val="bg2"/>
            </a:solidFill>
            <a:prstDash val="solid"/>
          </a:ln>
        </p:spPr>
      </p:sp>
      <p:sp>
        <p:nvSpPr>
          <p:cNvPr id="8" name="Text 5"/>
          <p:cNvSpPr txBox="1"/>
          <p:nvPr/>
        </p:nvSpPr>
        <p:spPr>
          <a:xfrm>
            <a:off x="5623560" y="2240280"/>
            <a:ext cx="1325880" cy="896112"/>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21 / 21</a:t>
            </a:r>
            <a:endParaRPr lang="en-US" sz="2400" dirty="0"/>
          </a:p>
        </p:txBody>
      </p:sp>
      <p:sp>
        <p:nvSpPr>
          <p:cNvPr id="9" name="Text 6"/>
          <p:cNvSpPr txBox="1"/>
          <p:nvPr/>
        </p:nvSpPr>
        <p:spPr>
          <a:xfrm>
            <a:off x="6949440" y="2240280"/>
            <a:ext cx="1645920" cy="8961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tests ETL et réconciliation</a:t>
            </a:r>
            <a:endParaRPr lang="en-US" sz="1200" dirty="0"/>
          </a:p>
        </p:txBody>
      </p:sp>
      <p:sp>
        <p:nvSpPr>
          <p:cNvPr id="10" name="carte-resultat-3"/>
          <p:cNvSpPr/>
          <p:nvPr/>
        </p:nvSpPr>
        <p:spPr>
          <a:xfrm>
            <a:off x="5486400" y="3291840"/>
            <a:ext cx="3200400" cy="896112"/>
          </a:xfrm>
          <a:prstGeom prst="roundRect">
            <a:avLst>
              <a:gd name="adj" fmla="val 8163"/>
            </a:avLst>
          </a:prstGeom>
          <a:solidFill>
            <a:schemeClr val="bg2"/>
          </a:solidFill>
          <a:ln w="12700">
            <a:solidFill>
              <a:schemeClr val="bg2"/>
            </a:solidFill>
            <a:prstDash val="solid"/>
          </a:ln>
        </p:spPr>
      </p:sp>
      <p:sp>
        <p:nvSpPr>
          <p:cNvPr id="11" name="Text 8"/>
          <p:cNvSpPr txBox="1"/>
          <p:nvPr/>
        </p:nvSpPr>
        <p:spPr>
          <a:xfrm>
            <a:off x="5623560" y="3291840"/>
            <a:ext cx="1325880" cy="896112"/>
          </a:xfrm>
          <a:prstGeom prst="rect">
            <a:avLst/>
          </a:prstGeom>
          <a:noFill/>
          <a:ln/>
        </p:spPr>
        <p:txBody>
          <a:bodyPr wrap="square" lIns="0" tIns="0" rIns="0" bIns="0" rtlCol="0" anchor="ctr"/>
          <a:lstStyle/>
          <a:p>
            <a:pPr indent="0" marL="0">
              <a:buNone/>
            </a:pPr>
            <a:r>
              <a:rPr lang="en-US" sz="2400" b="1" dirty="0">
                <a:solidFill>
                  <a:schemeClr val="accent6"/>
                </a:solidFill>
                <a:latin typeface="Cambria" pitchFamily="34" charset="0"/>
                <a:ea typeface="Cambria" pitchFamily="34" charset="-122"/>
                <a:cs typeface="Cambria" pitchFamily="34" charset="-120"/>
              </a:rPr>
              <a:t>2 / 2</a:t>
            </a:r>
            <a:endParaRPr lang="en-US" sz="2400" dirty="0"/>
          </a:p>
        </p:txBody>
      </p:sp>
      <p:sp>
        <p:nvSpPr>
          <p:cNvPr id="12" name="Text 9"/>
          <p:cNvSpPr txBox="1"/>
          <p:nvPr/>
        </p:nvSpPr>
        <p:spPr>
          <a:xfrm>
            <a:off x="6949440" y="3291840"/>
            <a:ext cx="1645920" cy="896112"/>
          </a:xfrm>
          <a:prstGeom prst="rect">
            <a:avLst/>
          </a:prstGeom>
          <a:noFill/>
          <a:ln/>
        </p:spPr>
        <p:txBody>
          <a:bodyPr wrap="square" lIns="0" tIns="0" rIns="0" bIns="0" rtlCol="0" anchor="ctr"/>
          <a:lstStyle/>
          <a:p>
            <a:pPr indent="0" marL="0">
              <a:buNone/>
            </a:pPr>
            <a:r>
              <a:rPr lang="en-US" sz="1200" dirty="0">
                <a:solidFill>
                  <a:schemeClr val="tx1"/>
                </a:solidFill>
                <a:latin typeface="Calibri" pitchFamily="34" charset="0"/>
                <a:ea typeface="Calibri" pitchFamily="34" charset="-122"/>
                <a:cs typeface="Calibri" pitchFamily="34" charset="-120"/>
              </a:rPr>
              <a:t>DAG importés dans Airflow 2.9.3</a:t>
            </a:r>
            <a:endParaRPr lang="en-US" sz="1200" dirty="0"/>
          </a:p>
        </p:txBody>
      </p:sp>
      <p:sp>
        <p:nvSpPr>
          <p:cNvPr id="13" name="Text 10"/>
          <p:cNvSpPr txBox="1"/>
          <p:nvPr/>
        </p:nvSpPr>
        <p:spPr>
          <a:xfrm>
            <a:off x="5486400" y="4389120"/>
            <a:ext cx="320040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Validé sur pile Docker réelle : image Laravel, dépôt Mongo, template Zabbix 7.0, scénario MySQL → Mongo → SOAP → MySQL.</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000" b="1" dirty="0">
                <a:solidFill>
                  <a:schemeClr val="tx2"/>
                </a:solidFill>
              </a:rPr>
              <a:t>Répartition du travail</a:t>
            </a:r>
            <a:endParaRPr lang="en-US" sz="3000" dirty="0"/>
          </a:p>
        </p:txBody>
      </p:sp>
      <p:sp>
        <p:nvSpPr>
          <p:cNvPr id="3" name="ligne-equipe-1"/>
          <p:cNvSpPr/>
          <p:nvPr/>
        </p:nvSpPr>
        <p:spPr>
          <a:xfrm>
            <a:off x="457200" y="1143000"/>
            <a:ext cx="8229600" cy="548640"/>
          </a:xfrm>
          <a:prstGeom prst="roundRect">
            <a:avLst>
              <a:gd name="adj" fmla="val 13333"/>
            </a:avLst>
          </a:prstGeom>
          <a:solidFill>
            <a:schemeClr val="bg2"/>
          </a:solidFill>
          <a:ln w="12700">
            <a:solidFill>
              <a:schemeClr val="bg2"/>
            </a:solidFill>
            <a:prstDash val="solid"/>
          </a:ln>
        </p:spPr>
      </p:sp>
      <p:sp>
        <p:nvSpPr>
          <p:cNvPr id="4" name="icone-equipe-1-cercle"/>
          <p:cNvSpPr/>
          <p:nvPr/>
        </p:nvSpPr>
        <p:spPr>
          <a:xfrm>
            <a:off x="566928" y="1207008"/>
            <a:ext cx="420624" cy="420624"/>
          </a:xfrm>
          <a:prstGeom prst="ellipse">
            <a:avLst/>
          </a:prstGeom>
          <a:solidFill>
            <a:srgbClr val="0F766E"/>
          </a:solidFill>
          <a:ln w="12700">
            <a:solidFill>
              <a:srgbClr val="0F766E"/>
            </a:solidFill>
            <a:prstDash val="solid"/>
          </a:ln>
        </p:spPr>
      </p:sp>
      <p:pic>
        <p:nvPicPr>
          <p:cNvPr id="5" name="icone-equipe-1" descr="icone-equipe-1">    </p:cNvPr>
          <p:cNvPicPr>
            <a:picLocks noChangeAspect="1"/>
          </p:cNvPicPr>
          <p:nvPr/>
        </p:nvPicPr>
        <p:blipFill>
          <a:blip r:embed="rId1"/>
          <a:stretch>
            <a:fillRect/>
          </a:stretch>
        </p:blipFill>
        <p:spPr>
          <a:xfrm>
            <a:off x="672084" y="1312164"/>
            <a:ext cx="210312" cy="210312"/>
          </a:xfrm>
          <a:prstGeom prst="rect">
            <a:avLst/>
          </a:prstGeom>
        </p:spPr>
      </p:pic>
      <p:sp>
        <p:nvSpPr>
          <p:cNvPr id="6" name="Text 3"/>
          <p:cNvSpPr txBox="1"/>
          <p:nvPr/>
        </p:nvSpPr>
        <p:spPr>
          <a:xfrm>
            <a:off x="1188720" y="1143000"/>
            <a:ext cx="164592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Membre 1</a:t>
            </a:r>
            <a:endParaRPr lang="en-US" sz="1400" dirty="0"/>
          </a:p>
        </p:txBody>
      </p:sp>
      <p:sp>
        <p:nvSpPr>
          <p:cNvPr id="7" name="Text 4"/>
          <p:cNvSpPr txBox="1"/>
          <p:nvPr/>
        </p:nvSpPr>
        <p:spPr>
          <a:xfrm>
            <a:off x="2926080" y="1143000"/>
            <a:ext cx="5577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Infrastructure Docker, dépôt Git, README</a:t>
            </a:r>
            <a:endParaRPr lang="en-US" sz="1300" dirty="0"/>
          </a:p>
        </p:txBody>
      </p:sp>
      <p:sp>
        <p:nvSpPr>
          <p:cNvPr id="8" name="ligne-equipe-2"/>
          <p:cNvSpPr/>
          <p:nvPr/>
        </p:nvSpPr>
        <p:spPr>
          <a:xfrm>
            <a:off x="457200" y="1801368"/>
            <a:ext cx="8229600" cy="548640"/>
          </a:xfrm>
          <a:prstGeom prst="roundRect">
            <a:avLst>
              <a:gd name="adj" fmla="val 13333"/>
            </a:avLst>
          </a:prstGeom>
          <a:solidFill>
            <a:schemeClr val="bg2"/>
          </a:solidFill>
          <a:ln w="12700">
            <a:solidFill>
              <a:schemeClr val="bg2"/>
            </a:solidFill>
            <a:prstDash val="solid"/>
          </a:ln>
        </p:spPr>
      </p:sp>
      <p:sp>
        <p:nvSpPr>
          <p:cNvPr id="9" name="icone-equipe-2-cercle"/>
          <p:cNvSpPr/>
          <p:nvPr/>
        </p:nvSpPr>
        <p:spPr>
          <a:xfrm>
            <a:off x="566928" y="1865376"/>
            <a:ext cx="420624" cy="420624"/>
          </a:xfrm>
          <a:prstGeom prst="ellipse">
            <a:avLst/>
          </a:prstGeom>
          <a:solidFill>
            <a:srgbClr val="2563EB"/>
          </a:solidFill>
          <a:ln w="12700">
            <a:solidFill>
              <a:srgbClr val="2563EB"/>
            </a:solidFill>
            <a:prstDash val="solid"/>
          </a:ln>
        </p:spPr>
      </p:sp>
      <p:pic>
        <p:nvPicPr>
          <p:cNvPr id="10" name="icone-equipe-2" descr="icone-equipe-2">    </p:cNvPr>
          <p:cNvPicPr>
            <a:picLocks noChangeAspect="1"/>
          </p:cNvPicPr>
          <p:nvPr/>
        </p:nvPicPr>
        <p:blipFill>
          <a:blip r:embed="rId2"/>
          <a:stretch>
            <a:fillRect/>
          </a:stretch>
        </p:blipFill>
        <p:spPr>
          <a:xfrm>
            <a:off x="672084" y="1970532"/>
            <a:ext cx="210312" cy="210312"/>
          </a:xfrm>
          <a:prstGeom prst="rect">
            <a:avLst/>
          </a:prstGeom>
        </p:spPr>
      </p:pic>
      <p:sp>
        <p:nvSpPr>
          <p:cNvPr id="11" name="Text 7"/>
          <p:cNvSpPr txBox="1"/>
          <p:nvPr/>
        </p:nvSpPr>
        <p:spPr>
          <a:xfrm>
            <a:off x="1188720" y="1801368"/>
            <a:ext cx="164592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Membre 2</a:t>
            </a:r>
            <a:endParaRPr lang="en-US" sz="1400" dirty="0"/>
          </a:p>
        </p:txBody>
      </p:sp>
      <p:sp>
        <p:nvSpPr>
          <p:cNvPr id="12" name="Text 8"/>
          <p:cNvSpPr txBox="1"/>
          <p:nvPr/>
        </p:nvSpPr>
        <p:spPr>
          <a:xfrm>
            <a:off x="2926080" y="1801368"/>
            <a:ext cx="5577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MySQL, jeu de données, DAG 1 (ETL)</a:t>
            </a:r>
            <a:endParaRPr lang="en-US" sz="1300" dirty="0"/>
          </a:p>
        </p:txBody>
      </p:sp>
      <p:sp>
        <p:nvSpPr>
          <p:cNvPr id="13" name="ligne-equipe-3"/>
          <p:cNvSpPr/>
          <p:nvPr/>
        </p:nvSpPr>
        <p:spPr>
          <a:xfrm>
            <a:off x="457200" y="2459736"/>
            <a:ext cx="8229600" cy="548640"/>
          </a:xfrm>
          <a:prstGeom prst="roundRect">
            <a:avLst>
              <a:gd name="adj" fmla="val 13333"/>
            </a:avLst>
          </a:prstGeom>
          <a:solidFill>
            <a:schemeClr val="bg2"/>
          </a:solidFill>
          <a:ln w="12700">
            <a:solidFill>
              <a:schemeClr val="bg2"/>
            </a:solidFill>
            <a:prstDash val="solid"/>
          </a:ln>
        </p:spPr>
      </p:sp>
      <p:sp>
        <p:nvSpPr>
          <p:cNvPr id="14" name="icone-equipe-3-cercle"/>
          <p:cNvSpPr/>
          <p:nvPr/>
        </p:nvSpPr>
        <p:spPr>
          <a:xfrm>
            <a:off x="566928" y="2523744"/>
            <a:ext cx="420624" cy="420624"/>
          </a:xfrm>
          <a:prstGeom prst="ellipse">
            <a:avLst/>
          </a:prstGeom>
          <a:solidFill>
            <a:srgbClr val="C2410C"/>
          </a:solidFill>
          <a:ln w="12700">
            <a:solidFill>
              <a:srgbClr val="C2410C"/>
            </a:solidFill>
            <a:prstDash val="solid"/>
          </a:ln>
        </p:spPr>
      </p:sp>
      <p:pic>
        <p:nvPicPr>
          <p:cNvPr id="15" name="icone-equipe-3" descr="icone-equipe-3">    </p:cNvPr>
          <p:cNvPicPr>
            <a:picLocks noChangeAspect="1"/>
          </p:cNvPicPr>
          <p:nvPr/>
        </p:nvPicPr>
        <p:blipFill>
          <a:blip r:embed="rId3"/>
          <a:stretch>
            <a:fillRect/>
          </a:stretch>
        </p:blipFill>
        <p:spPr>
          <a:xfrm>
            <a:off x="672084" y="2628900"/>
            <a:ext cx="210312" cy="210312"/>
          </a:xfrm>
          <a:prstGeom prst="rect">
            <a:avLst/>
          </a:prstGeom>
        </p:spPr>
      </p:pic>
      <p:sp>
        <p:nvSpPr>
          <p:cNvPr id="16" name="Text 11"/>
          <p:cNvSpPr txBox="1"/>
          <p:nvPr/>
        </p:nvSpPr>
        <p:spPr>
          <a:xfrm>
            <a:off x="1188720" y="2459736"/>
            <a:ext cx="164592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Membre 3</a:t>
            </a:r>
            <a:endParaRPr lang="en-US" sz="1400" dirty="0"/>
          </a:p>
        </p:txBody>
      </p:sp>
      <p:sp>
        <p:nvSpPr>
          <p:cNvPr id="17" name="Text 12"/>
          <p:cNvSpPr txBox="1"/>
          <p:nvPr/>
        </p:nvSpPr>
        <p:spPr>
          <a:xfrm>
            <a:off x="2926080" y="2459736"/>
            <a:ext cx="5577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Service SOAP Laravel, WSDL, validation</a:t>
            </a:r>
            <a:endParaRPr lang="en-US" sz="1300" dirty="0"/>
          </a:p>
        </p:txBody>
      </p:sp>
      <p:sp>
        <p:nvSpPr>
          <p:cNvPr id="18" name="ligne-equipe-4"/>
          <p:cNvSpPr/>
          <p:nvPr/>
        </p:nvSpPr>
        <p:spPr>
          <a:xfrm>
            <a:off x="457200" y="3118104"/>
            <a:ext cx="8229600" cy="548640"/>
          </a:xfrm>
          <a:prstGeom prst="roundRect">
            <a:avLst>
              <a:gd name="adj" fmla="val 13333"/>
            </a:avLst>
          </a:prstGeom>
          <a:solidFill>
            <a:schemeClr val="bg2"/>
          </a:solidFill>
          <a:ln w="12700">
            <a:solidFill>
              <a:schemeClr val="bg2"/>
            </a:solidFill>
            <a:prstDash val="solid"/>
          </a:ln>
        </p:spPr>
      </p:sp>
      <p:sp>
        <p:nvSpPr>
          <p:cNvPr id="19" name="icone-equipe-4-cercle"/>
          <p:cNvSpPr/>
          <p:nvPr/>
        </p:nvSpPr>
        <p:spPr>
          <a:xfrm>
            <a:off x="566928" y="3182112"/>
            <a:ext cx="420624" cy="420624"/>
          </a:xfrm>
          <a:prstGeom prst="ellipse">
            <a:avLst/>
          </a:prstGeom>
          <a:solidFill>
            <a:srgbClr val="0F766E"/>
          </a:solidFill>
          <a:ln w="12700">
            <a:solidFill>
              <a:srgbClr val="0F766E"/>
            </a:solidFill>
            <a:prstDash val="solid"/>
          </a:ln>
        </p:spPr>
      </p:sp>
      <p:pic>
        <p:nvPicPr>
          <p:cNvPr id="20" name="icone-equipe-4" descr="icone-equipe-4">    </p:cNvPr>
          <p:cNvPicPr>
            <a:picLocks noChangeAspect="1"/>
          </p:cNvPicPr>
          <p:nvPr/>
        </p:nvPicPr>
        <p:blipFill>
          <a:blip r:embed="rId4"/>
          <a:stretch>
            <a:fillRect/>
          </a:stretch>
        </p:blipFill>
        <p:spPr>
          <a:xfrm>
            <a:off x="672084" y="3287268"/>
            <a:ext cx="210312" cy="210312"/>
          </a:xfrm>
          <a:prstGeom prst="rect">
            <a:avLst/>
          </a:prstGeom>
        </p:spPr>
      </p:pic>
      <p:sp>
        <p:nvSpPr>
          <p:cNvPr id="21" name="Text 15"/>
          <p:cNvSpPr txBox="1"/>
          <p:nvPr/>
        </p:nvSpPr>
        <p:spPr>
          <a:xfrm>
            <a:off x="1188720" y="3118104"/>
            <a:ext cx="164592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Membre 4</a:t>
            </a:r>
            <a:endParaRPr lang="en-US" sz="1400" dirty="0"/>
          </a:p>
        </p:txBody>
      </p:sp>
      <p:sp>
        <p:nvSpPr>
          <p:cNvPr id="22" name="Text 16"/>
          <p:cNvSpPr txBox="1"/>
          <p:nvPr/>
        </p:nvSpPr>
        <p:spPr>
          <a:xfrm>
            <a:off x="2926080" y="3118104"/>
            <a:ext cx="5577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MongoDB, DAG 2, réconciliation</a:t>
            </a:r>
            <a:endParaRPr lang="en-US" sz="1300" dirty="0"/>
          </a:p>
        </p:txBody>
      </p:sp>
      <p:sp>
        <p:nvSpPr>
          <p:cNvPr id="23" name="ligne-equipe-5"/>
          <p:cNvSpPr/>
          <p:nvPr/>
        </p:nvSpPr>
        <p:spPr>
          <a:xfrm>
            <a:off x="457200" y="3776472"/>
            <a:ext cx="8229600" cy="548640"/>
          </a:xfrm>
          <a:prstGeom prst="roundRect">
            <a:avLst>
              <a:gd name="adj" fmla="val 13333"/>
            </a:avLst>
          </a:prstGeom>
          <a:solidFill>
            <a:schemeClr val="bg2"/>
          </a:solidFill>
          <a:ln w="12700">
            <a:solidFill>
              <a:schemeClr val="bg2"/>
            </a:solidFill>
            <a:prstDash val="solid"/>
          </a:ln>
        </p:spPr>
      </p:sp>
      <p:sp>
        <p:nvSpPr>
          <p:cNvPr id="24" name="icone-equipe-5-cercle"/>
          <p:cNvSpPr/>
          <p:nvPr/>
        </p:nvSpPr>
        <p:spPr>
          <a:xfrm>
            <a:off x="566928" y="3840480"/>
            <a:ext cx="420624" cy="420624"/>
          </a:xfrm>
          <a:prstGeom prst="ellipse">
            <a:avLst/>
          </a:prstGeom>
          <a:solidFill>
            <a:srgbClr val="2563EB"/>
          </a:solidFill>
          <a:ln w="12700">
            <a:solidFill>
              <a:srgbClr val="2563EB"/>
            </a:solidFill>
            <a:prstDash val="solid"/>
          </a:ln>
        </p:spPr>
      </p:sp>
      <p:pic>
        <p:nvPicPr>
          <p:cNvPr id="25" name="icone-equipe-5" descr="icone-equipe-5">    </p:cNvPr>
          <p:cNvPicPr>
            <a:picLocks noChangeAspect="1"/>
          </p:cNvPicPr>
          <p:nvPr/>
        </p:nvPicPr>
        <p:blipFill>
          <a:blip r:embed="rId5"/>
          <a:stretch>
            <a:fillRect/>
          </a:stretch>
        </p:blipFill>
        <p:spPr>
          <a:xfrm>
            <a:off x="672084" y="3945636"/>
            <a:ext cx="210312" cy="210312"/>
          </a:xfrm>
          <a:prstGeom prst="rect">
            <a:avLst/>
          </a:prstGeom>
        </p:spPr>
      </p:pic>
      <p:sp>
        <p:nvSpPr>
          <p:cNvPr id="26" name="Text 19"/>
          <p:cNvSpPr txBox="1"/>
          <p:nvPr/>
        </p:nvSpPr>
        <p:spPr>
          <a:xfrm>
            <a:off x="1188720" y="3776472"/>
            <a:ext cx="1645920" cy="54864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Membre 5</a:t>
            </a:r>
            <a:endParaRPr lang="en-US" sz="1400" dirty="0"/>
          </a:p>
        </p:txBody>
      </p:sp>
      <p:sp>
        <p:nvSpPr>
          <p:cNvPr id="27" name="Text 20"/>
          <p:cNvSpPr txBox="1"/>
          <p:nvPr/>
        </p:nvSpPr>
        <p:spPr>
          <a:xfrm>
            <a:off x="2926080" y="3776472"/>
            <a:ext cx="5577840" cy="548640"/>
          </a:xfrm>
          <a:prstGeom prst="rect">
            <a:avLst/>
          </a:prstGeom>
          <a:noFill/>
          <a:ln/>
        </p:spPr>
        <p:txBody>
          <a:bodyPr wrap="square" lIns="0" tIns="0" rIns="0" bIns="0" rtlCol="0" anchor="ctr"/>
          <a:lstStyle/>
          <a:p>
            <a:pPr indent="0" marL="0">
              <a:buNone/>
            </a:pPr>
            <a:r>
              <a:rPr lang="en-US" sz="1300" dirty="0">
                <a:solidFill>
                  <a:schemeClr val="tx1"/>
                </a:solidFill>
                <a:latin typeface="Calibri" pitchFamily="34" charset="0"/>
                <a:ea typeface="Calibri" pitchFamily="34" charset="-122"/>
                <a:cs typeface="Calibri" pitchFamily="34" charset="-120"/>
              </a:rPr>
              <a:t>Zabbix, tests SoapUI, documentation</a:t>
            </a:r>
            <a:endParaRPr lang="en-US" sz="1300" dirty="0"/>
          </a:p>
        </p:txBody>
      </p:sp>
      <p:sp>
        <p:nvSpPr>
          <p:cNvPr id="28" name="Text 21"/>
          <p:cNvSpPr txBox="1"/>
          <p:nvPr/>
        </p:nvSpPr>
        <p:spPr>
          <a:xfrm>
            <a:off x="457200" y="4480560"/>
            <a:ext cx="5486400" cy="274320"/>
          </a:xfrm>
          <a:prstGeom prst="rect">
            <a:avLst/>
          </a:prstGeom>
          <a:noFill/>
          <a:ln/>
        </p:spPr>
        <p:txBody>
          <a:bodyPr wrap="square" lIns="0" tIns="0" rIns="0" bIns="0" rtlCol="0" anchor="ctr"/>
          <a:lstStyle/>
          <a:p>
            <a:pPr indent="0" marL="0">
              <a:buNone/>
            </a:pPr>
            <a:r>
              <a:rPr lang="en-US" sz="1100" i="1" dirty="0">
                <a:solidFill>
                  <a:schemeClr val="accent5"/>
                </a:solidFill>
                <a:latin typeface="Calibri" pitchFamily="34" charset="0"/>
                <a:ea typeface="Calibri" pitchFamily="34" charset="-122"/>
                <a:cs typeface="Calibri" pitchFamily="34" charset="-120"/>
              </a:rPr>
              <a:t>Noms et rôles à ajuster par le groupe.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r>
              <a:rPr lang="en-US" sz="4000" b="1" dirty="0">
                <a:solidFill>
                  <a:schemeClr val="bg1"/>
                </a:solidFill>
              </a:rPr>
              <a:t>Ce qu'il faut retenir</a:t>
            </a:r>
            <a:endParaRPr lang="en-US" sz="4000" dirty="0"/>
          </a:p>
        </p:txBody>
      </p:sp>
      <p:sp>
        <p:nvSpPr>
          <p:cNvPr id="3" name="Text 1"/>
          <p:cNvSpPr txBox="1"/>
          <p:nvPr/>
        </p:nvSpPr>
        <p:spPr>
          <a:xfrm>
            <a:off x="548640" y="2377440"/>
            <a:ext cx="8046720" cy="18288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MongoDB est la référence ; le service SOAP n'écrit jamais dans MySQL</a:t>
            </a:r>
            <a:endParaRPr lang="en-US" sz="1800" dirty="0"/>
          </a:p>
          <a:p>
            <a:pPr marL="342900" indent="-342900">
              <a:spcAft>
                <a:spcPts val="1000"/>
              </a:spcAft>
              <a:buSzPct val="100000"/>
              <a:buChar char="•"/>
            </a:pPr>
            <a:r>
              <a:rPr lang="en-US" sz="1800" dirty="0">
                <a:solidFill>
                  <a:schemeClr val="bg1"/>
                </a:solidFill>
              </a:rPr>
              <a:t>ETL idempotent avec contrôle qualité et rejets tracés</a:t>
            </a:r>
            <a:endParaRPr lang="en-US" sz="1800" dirty="0"/>
          </a:p>
          <a:p>
            <a:pPr marL="342900" indent="-342900">
              <a:spcAft>
                <a:spcPts val="1000"/>
              </a:spcAft>
              <a:buSzPct val="100000"/>
              <a:buChar char="•"/>
            </a:pPr>
            <a:r>
              <a:rPr lang="en-US" sz="1800" dirty="0">
                <a:solidFill>
                  <a:schemeClr val="bg1"/>
                </a:solidFill>
              </a:rPr>
              <a:t>Réconciliation avec détection de conflits et audit</a:t>
            </a:r>
            <a:endParaRPr lang="en-US" sz="1800" dirty="0"/>
          </a:p>
          <a:p>
            <a:pPr marL="342900" indent="-342900">
              <a:spcAft>
                <a:spcPts val="1000"/>
              </a:spcAft>
              <a:buSzPct val="100000"/>
              <a:buChar char="•"/>
            </a:pPr>
            <a:r>
              <a:rPr lang="en-US" sz="1800" dirty="0">
                <a:solidFill>
                  <a:schemeClr val="bg1"/>
                </a:solidFill>
              </a:rPr>
              <a:t>Supervision par alertes : panne de base, latence, retard ETL</a:t>
            </a:r>
            <a:endParaRPr lang="en-US" sz="1800" dirty="0"/>
          </a:p>
        </p:txBody>
      </p:sp>
      <p:sp>
        <p:nvSpPr>
          <p:cNvPr id="4" name="Text 2"/>
          <p:cNvSpPr txBox="1"/>
          <p:nvPr/>
        </p:nvSpPr>
        <p:spPr>
          <a:xfrm>
            <a:off x="548640" y="4297680"/>
            <a:ext cx="8046720" cy="548640"/>
          </a:xfrm>
          <a:prstGeom prst="rect">
            <a:avLst/>
          </a:prstGeom>
          <a:noFill/>
          <a:ln/>
        </p:spPr>
        <p:txBody>
          <a:bodyPr wrap="square" lIns="0" tIns="0" rIns="0" bIns="0" rtlCol="0" anchor="ctr"/>
          <a:lstStyle/>
          <a:p>
            <a:pPr indent="0" marL="0">
              <a:buNone/>
            </a:pPr>
            <a:r>
              <a:rPr lang="en-US" sz="1300" dirty="0">
                <a:solidFill>
                  <a:schemeClr val="accent2"/>
                </a:solidFill>
                <a:latin typeface="Calibri" pitchFamily="34" charset="0"/>
                <a:ea typeface="Calibri" pitchFamily="34" charset="-122"/>
                <a:cs typeface="Calibri" pitchFamily="34" charset="-120"/>
              </a:rPr>
              <a:t>Limites : fenêtre d'incohérence jusqu'à 1 h · pas d'authentification SOAP · pas de création/suppression de clients</a:t>
            </a:r>
            <a:endParaRPr lang="en-US" sz="1300" dirty="0"/>
          </a:p>
        </p:txBody>
      </p:sp>
    </p:spTree>
  </p:cSld>
  <p:clrMapOvr>
    <a:masterClrMapping/>
  </p:clrMapOvr>
</p:sld>
</file>

<file path=ppt/theme/theme1.xml><?xml version="1.0" encoding="utf-8"?>
<a:theme xmlns:a="http://schemas.openxmlformats.org/drawingml/2006/main" name="IBAM SOAP Clients">
  <a:themeElements>
    <a:clrScheme name="IBAM SOAP Clients">
      <a:dk1>
        <a:srgbClr val="17262E"/>
      </a:dk1>
      <a:lt1>
        <a:srgbClr val="FFFFFF"/>
      </a:lt1>
      <a:dk2>
        <a:srgbClr val="0B3C49"/>
      </a:dk2>
      <a:lt2>
        <a:srgbClr val="EDF3F4"/>
      </a:lt2>
      <a:accent1>
        <a:srgbClr val="0F766E"/>
      </a:accent1>
      <a:accent2>
        <a:srgbClr val="F2A900"/>
      </a:accent2>
      <a:accent3>
        <a:srgbClr val="2563EB"/>
      </a:accent3>
      <a:accent4>
        <a:srgbClr val="C2410C"/>
      </a:accent4>
      <a:accent5>
        <a:srgbClr val="64767F"/>
      </a:accent5>
      <a:accent6>
        <a:srgbClr val="15803D"/>
      </a:accent6>
      <a:hlink>
        <a:srgbClr val="0F766E"/>
      </a:hlink>
      <a:folHlink>
        <a:srgbClr val="64767F"/>
      </a:folHlink>
    </a:clrScheme>
    <a:fontScheme name="IBAM SOAP Clien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SOAP de clients - Laravel, Airflow, MongoDB, Zabbix</dc:title>
  <dc:subject>PptxGenJS Presentation</dc:subject>
  <dc:creator>Groupe 5 SI - IBAM</dc:creator>
  <cp:lastModifiedBy>Groupe 5 SI - IBAM</cp:lastModifiedBy>
  <cp:revision>1</cp:revision>
  <dcterms:created xsi:type="dcterms:W3CDTF">2026-10-19T17:10:26Z</dcterms:created>
  <dcterms:modified xsi:type="dcterms:W3CDTF">2026-10-19T17:10:26Z</dcterms:modified>
</cp:coreProperties>
</file>